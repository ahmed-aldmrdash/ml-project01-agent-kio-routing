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hmed — problem and dataset" id="{cc9d641a-9acb-9985-db92-e21f9ac83c73}">
          <p14:sldIdLst>
            <p14:sldId id="256"/>
            <p14:sldId id="257"/>
            <p14:sldId id="258"/>
            <p14:sldId id="259"/>
            <p14:sldId id="260"/>
          </p14:sldIdLst>
        </p14:section>
        <p14:section name="Moaaz — decision model" id="{8d54d995-b2a9-592c-a1b1-bec5176d3a2f}">
          <p14:sldIdLst>
            <p14:sldId id="261"/>
            <p14:sldId id="262"/>
            <p14:sldId id="263"/>
          </p14:sldIdLst>
        </p14:section>
        <p14:section name="Omar — ML classifier, comparison, recommendation" id="{3caa8f83-72ef-0b74-ca1b-1930f54e8286}">
          <p14:sldIdLst>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Correct routes (%)</a:t>
            </a:r>
          </a:p>
        </c:rich>
      </c:tx>
      <c:layout/>
      <c:overlay val="0"/>
    </c:title>
    <c:autoTitleDeleted val="0"/>
    <c:plotArea>
      <c:layout/>
      <c:barChart>
        <c:barDir val="col"/>
        <c:grouping val="clustered"/>
        <c:varyColors val="0"/>
        <c:ser>
          <c:idx val="0"/>
          <c:order val="0"/>
          <c:tx>
            <c:strRef>
              <c:f>Sheet1!$B$1</c:f>
              <c:strCache>
                <c:ptCount val="1"/>
                <c:pt idx="0">
                  <c:v>ML classifier</c:v>
                </c:pt>
              </c:strCache>
            </c:strRef>
          </c:tx>
          <c:spPr>
            <a:solidFill>
              <a:srgbClr val="2A78D6"/>
            </a:solidFill>
            <a:effectLst/>
          </c:spPr>
          <c:invertIfNegative val="0"/>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Sheet1!$A$2:$A$4</c:f>
              <c:multiLvlStrCache>
                <c:ptCount val="3"/>
                <c:lvl>
                  <c:pt idx="0">
                    <c:v>Test set (20)</c:v>
                  </c:pt>
                  <c:pt idx="1">
                    <c:v>Mixed intent (4)</c:v>
                  </c:pt>
                  <c:pt idx="2">
                    <c:v>New hard cases (8)</c:v>
                  </c:pt>
                </c:lvl>
              </c:multiLvlStrCache>
            </c:multiLvlStrRef>
          </c:cat>
          <c:val>
            <c:numRef>
              <c:f>Sheet1!$B$2:$B$4</c:f>
              <c:numCache>
                <c:formatCode>General</c:formatCode>
                <c:ptCount val="3"/>
                <c:pt idx="0">
                  <c:v>100</c:v>
                </c:pt>
                <c:pt idx="1">
                  <c:v>50</c:v>
                </c:pt>
                <c:pt idx="2">
                  <c:v>62.5</c:v>
                </c:pt>
              </c:numCache>
            </c:numRef>
          </c:val>
        </c:ser>
        <c:ser>
          <c:idx val="1"/>
          <c:order val="1"/>
          <c:tx>
            <c:strRef>
              <c:f>Sheet1!$C$1</c:f>
              <c:strCache>
                <c:ptCount val="1"/>
                <c:pt idx="0">
                  <c:v>Decision model</c:v>
                </c:pt>
              </c:strCache>
            </c:strRef>
          </c:tx>
          <c:spPr>
            <a:solidFill>
              <a:srgbClr val="EB6834"/>
            </a:solidFill>
            <a:effectLst/>
          </c:spPr>
          <c:invertIfNegative val="0"/>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Sheet1!$A$2:$A$4</c:f>
              <c:multiLvlStrCache>
                <c:ptCount val="3"/>
                <c:lvl>
                  <c:pt idx="0">
                    <c:v>Test set (20)</c:v>
                  </c:pt>
                  <c:pt idx="1">
                    <c:v>Mixed intent (4)</c:v>
                  </c:pt>
                  <c:pt idx="2">
                    <c:v>New hard cases (8)</c:v>
                  </c:pt>
                </c:lvl>
              </c:multiLvlStrCache>
            </c:multiLvlStrRef>
          </c:cat>
          <c:val>
            <c:numRef>
              <c:f>Sheet1!$C$2:$C$4</c:f>
              <c:numCache>
                <c:formatCode>General</c:formatCode>
                <c:ptCount val="3"/>
                <c:pt idx="0">
                  <c:v>80</c:v>
                </c:pt>
                <c:pt idx="1">
                  <c:v>100</c:v>
                </c:pt>
                <c:pt idx="2">
                  <c:v>62.5</c:v>
                </c:pt>
              </c:numCache>
            </c:numRef>
          </c:val>
        </c:ser>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4E3D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89"/>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(15 s): Good morning. We are Ahmed, Moaaz and Omar. Our question: should Agent KIO keep routing customers with a trained ML classifier, or switch to a decision model? I will explain the problem and our data, Moaaz the decision model, Omar the classifier and our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(40 s): KIO is the chat entry point. Behind it are a support agent and a sales agent. Our job is only the router in the middle: read the message, output 0 for support or 1 for sales. Why it matters: routing selects the workflow, retrieval works inside it, so a wrong route sends the customer to the wrong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(50 s): We generated 60 English messages: 15 intents per class, each with a paraphrase. We used an AI assistant to draft them and reviewed every label together before testing. Labeling rule in one sentence. We split by group, not by message, so a paraphrase never leaks from training into test. On purpose we added negation, mixed intent and late orders that use purchase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(25 s): Point at M05: negation flips the meaning. M08: a purchase and a problem in one message, our rule says support. These are exactly the rows where the two approaches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(35 s): The classifier only knows what it saw in 40 examples turned into numbers. The decision model reads the sentence itself and compares it with written options, so a business rule is text, not new training data. Both end in the same flag. Moaaz will now show the decision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MOAAZ (45 s): We used facebook/bart-large-mnli, an open-source model under the MIT licence. It is a natural-language-inference model: for each of our two routing options it gives a probability that the message entails it. Our wrapper turns that into a structured answer, validates it, and anything invalid falls back to support. The threshold 0.90 was chosen on the 40 training messages only, never on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MOAAZ (40 s): Results from our Colab run. Test 16 of 20, all four mixed-intent messages correct, 5 of 8 new hard messages. Every test error goes the same way: a sales message about maintenance or service contracts was sent to support. The words maintenance and service made the model think of an existing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MOAAZ (30 s): The model understands the problems-first rule and its mistakes are the safer kind. But it gives a high support score to almost every message, so we needed a strict threshold, and business words like maintenance confuse it. It is also slower. Omar will now show the trained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(50 s): We chose logistic regression with degree-2 polynomial features, one of the allowed options. Each message becomes two numbers: problem cues and purchase cues, with negation counted as minus one. Scaling, degree 2, C equals 1. Our first attempt, learning word weights, only reached 40 percent because 40 messages are too few. We also checked an SVM with a polynomial kernel: 95 percent 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(40 s): Blue region is support, orange is sales. On the test set the classifier is perfect, 20 of 20, and over 200 random splits it averages 96 percent. The circled points are mixed-intent messages: purchase words outnumber problem words, so it routes them to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(40 s): On clear messages the classifier wins, 100 versus 80 percent. On mixed intent the decision model wins, 4 of 4 versus 2 of 4. On our hard messages both score 5 of 8, but they fail on different messages: the classifier is fooled by single keywords like quote, the decision model by friendly or repeat-purchase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(35 s): Our recommendation is a hybrid. Keep the fast classifier for clear messages and send only mixed messages to the decision model. On our data that gave 19 of 20, 3 of 4 and 6 of 8. Honest caveat: we designed this rule after seeing the results, so it needs a fresh test on real KIO messages.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the doctor asks how we got the numbers, open the notebook and run the demo cell with a new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5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4415" cy="777240"/>
          </a:xfrm>
          <a:prstGeom prst="rect">
            <a:avLst/>
          </a:prstGeom>
          <a:noFill/>
          <a:ln/>
        </p:spPr>
        <p:txBody>
          <a:bodyPr wrap="square" rtlCol="0"/>
          <a:lstStyle>
            <a:lvl1pPr algn="l" indent="0" marL="0">
              <a:buNone/>
              <a:defRPr lang="en-US" sz="3200" b="1" dirty="0">
                <a:solidFill>
                  <a:srgbClr val="14213D"/>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4415" cy="1371600"/>
          </a:xfrm>
          <a:prstGeom prst="rect">
            <a:avLst/>
          </a:prstGeom>
          <a:noFill/>
          <a:ln/>
        </p:spPr>
        <p:txBody>
          <a:bodyPr wrap="square" rtlCol="0"/>
          <a:lstStyle>
            <a:lvl1pPr algn="l" indent="0" marL="0">
              <a:buNone/>
              <a:defRPr lang="en-US" sz="3400" b="1" dirty="0">
                <a:solidFill>
                  <a:srgbClr val="F7F6F2"/>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hmed-Aldmrdash/ml-project01-agent-kio-routing"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huggingface.co/facebook/bart-large-mnli" TargetMode="External"/><Relationship Id="rId2" Type="http://schemas.openxmlformats.org/officeDocument/2006/relationships/hyperlink" Target="https://nexos.ai/blog/what-is-jev/" TargetMode="External"/><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11094415" cy="365760"/>
          </a:xfrm>
          <a:prstGeom prst="rect">
            <a:avLst/>
          </a:prstGeom>
          <a:noFill/>
          <a:ln/>
        </p:spPr>
        <p:txBody>
          <a:bodyPr wrap="square" lIns="0" tIns="0" rIns="0" bIns="0" rtlCol="0" anchor="t"/>
          <a:lstStyle/>
          <a:p>
            <a:pPr indent="0" marL="0">
              <a:buNone/>
            </a:pPr>
            <a:r>
              <a:rPr lang="en-US" sz="1400" b="1" spc="200" kern="0" dirty="0">
                <a:solidFill>
                  <a:srgbClr val="8FB8EE"/>
                </a:solidFill>
                <a:latin typeface="Courier New" pitchFamily="34" charset="0"/>
                <a:ea typeface="Courier New" pitchFamily="34" charset="-122"/>
                <a:cs typeface="Courier New" pitchFamily="34" charset="-120"/>
              </a:rPr>
              <a:t>CET351 MACHINE LEARNING · LECTURE PROJECT 01</a:t>
            </a:r>
            <a:endParaRPr lang="en-US" sz="1400" dirty="0"/>
          </a:p>
        </p:txBody>
      </p:sp>
      <p:sp>
        <p:nvSpPr>
          <p:cNvPr id="3" name="Text 1"/>
          <p:cNvSpPr txBox="1"/>
          <p:nvPr/>
        </p:nvSpPr>
        <p:spPr>
          <a:xfrm>
            <a:off x="548640" y="1828800"/>
            <a:ext cx="11094415" cy="1005840"/>
          </a:xfrm>
          <a:prstGeom prst="rect">
            <a:avLst/>
          </a:prstGeom>
          <a:noFill/>
          <a:ln/>
        </p:spPr>
        <p:txBody>
          <a:bodyPr wrap="square" lIns="0" tIns="0" rIns="0" bIns="0" rtlCol="0" anchor="t"/>
          <a:lstStyle/>
          <a:p>
            <a:pPr indent="0" marL="0">
              <a:buNone/>
            </a:pPr>
            <a:r>
              <a:rPr lang="en-US" sz="5400" b="1" dirty="0">
                <a:solidFill>
                  <a:srgbClr val="F7F6F2"/>
                </a:solidFill>
              </a:rPr>
              <a:t>Routing for Agent KIO</a:t>
            </a:r>
            <a:endParaRPr lang="en-US" sz="5400" dirty="0"/>
          </a:p>
        </p:txBody>
      </p:sp>
      <p:sp>
        <p:nvSpPr>
          <p:cNvPr id="4" name="Text 2"/>
          <p:cNvSpPr txBox="1"/>
          <p:nvPr/>
        </p:nvSpPr>
        <p:spPr>
          <a:xfrm>
            <a:off x="548640" y="2971800"/>
            <a:ext cx="9601200" cy="1005840"/>
          </a:xfrm>
          <a:prstGeom prst="rect">
            <a:avLst/>
          </a:prstGeom>
          <a:noFill/>
          <a:ln/>
        </p:spPr>
        <p:txBody>
          <a:bodyPr wrap="square" lIns="0" tIns="0" rIns="0" bIns="0" rtlCol="0" anchor="t"/>
          <a:lstStyle/>
          <a:p>
            <a:pPr indent="0" marL="0">
              <a:buNone/>
            </a:pPr>
            <a:r>
              <a:rPr lang="en-US" sz="2200" dirty="0">
                <a:solidFill>
                  <a:srgbClr val="C9D3E3"/>
                </a:solidFill>
              </a:rPr>
              <a:t>A trained ML classifier vs. an open-source decision model for sending manufacturing customers to </a:t>
            </a:r>
            <a:pPr indent="0" marL="0">
              <a:buNone/>
            </a:pPr>
            <a:r>
              <a:rPr lang="en-US" sz="2200" dirty="0">
                <a:solidFill>
                  <a:srgbClr val="8FB8EE"/>
                </a:solidFill>
              </a:rPr>
              <a:t>support</a:t>
            </a:r>
            <a:pPr indent="0" marL="0">
              <a:buNone/>
            </a:pPr>
            <a:r>
              <a:rPr lang="en-US" sz="2200" dirty="0">
                <a:solidFill>
                  <a:srgbClr val="C9D3E3"/>
                </a:solidFill>
              </a:rPr>
              <a:t> or </a:t>
            </a:r>
            <a:pPr indent="0" marL="0">
              <a:buNone/>
            </a:pPr>
            <a:r>
              <a:rPr lang="en-US" sz="2200" dirty="0">
                <a:solidFill>
                  <a:srgbClr val="F5A27F"/>
                </a:solidFill>
              </a:rPr>
              <a:t>sales</a:t>
            </a:r>
            <a:endParaRPr lang="en-US" sz="2200" dirty="0"/>
          </a:p>
        </p:txBody>
      </p:sp>
      <p:sp>
        <p:nvSpPr>
          <p:cNvPr id="5" name="Text 3"/>
          <p:cNvSpPr txBox="1"/>
          <p:nvPr/>
        </p:nvSpPr>
        <p:spPr>
          <a:xfrm>
            <a:off x="548640" y="5257800"/>
            <a:ext cx="3566160" cy="274320"/>
          </a:xfrm>
          <a:prstGeom prst="rect">
            <a:avLst/>
          </a:prstGeom>
          <a:noFill/>
          <a:ln/>
        </p:spPr>
        <p:txBody>
          <a:bodyPr wrap="square" lIns="0" tIns="0" rIns="0" bIns="0" rtlCol="0" anchor="t"/>
          <a:lstStyle/>
          <a:p>
            <a:pPr indent="0" marL="0">
              <a:buNone/>
            </a:pPr>
            <a:r>
              <a:rPr lang="en-US" sz="1200" b="1" dirty="0">
                <a:solidFill>
                  <a:srgbClr val="8FB8EE"/>
                </a:solidFill>
              </a:rPr>
              <a:t>Problem &amp; dataset</a:t>
            </a:r>
            <a:endParaRPr lang="en-US" sz="1200" dirty="0"/>
          </a:p>
        </p:txBody>
      </p:sp>
      <p:sp>
        <p:nvSpPr>
          <p:cNvPr id="6" name="Text 4"/>
          <p:cNvSpPr txBox="1"/>
          <p:nvPr/>
        </p:nvSpPr>
        <p:spPr>
          <a:xfrm>
            <a:off x="548640" y="5532120"/>
            <a:ext cx="3566160" cy="411480"/>
          </a:xfrm>
          <a:prstGeom prst="rect">
            <a:avLst/>
          </a:prstGeom>
          <a:noFill/>
          <a:ln/>
        </p:spPr>
        <p:txBody>
          <a:bodyPr wrap="square" lIns="0" tIns="0" rIns="0" bIns="0" rtlCol="0" anchor="t"/>
          <a:lstStyle/>
          <a:p>
            <a:pPr indent="0" marL="0">
              <a:buNone/>
            </a:pPr>
            <a:r>
              <a:rPr lang="en-US" sz="1800" b="1" dirty="0">
                <a:solidFill>
                  <a:srgbClr val="F7F6F2"/>
                </a:solidFill>
              </a:rPr>
              <a:t>Ahmed Mohamed Aldamardash</a:t>
            </a:r>
            <a:endParaRPr lang="en-US" sz="1800" dirty="0"/>
          </a:p>
        </p:txBody>
      </p:sp>
      <p:sp>
        <p:nvSpPr>
          <p:cNvPr id="7" name="Text 5"/>
          <p:cNvSpPr txBox="1"/>
          <p:nvPr/>
        </p:nvSpPr>
        <p:spPr>
          <a:xfrm>
            <a:off x="4297680" y="5257800"/>
            <a:ext cx="3566160" cy="274320"/>
          </a:xfrm>
          <a:prstGeom prst="rect">
            <a:avLst/>
          </a:prstGeom>
          <a:noFill/>
          <a:ln/>
        </p:spPr>
        <p:txBody>
          <a:bodyPr wrap="square" lIns="0" tIns="0" rIns="0" bIns="0" rtlCol="0" anchor="t"/>
          <a:lstStyle/>
          <a:p>
            <a:pPr indent="0" marL="0">
              <a:buNone/>
            </a:pPr>
            <a:r>
              <a:rPr lang="en-US" sz="1200" b="1" dirty="0">
                <a:solidFill>
                  <a:srgbClr val="F5A27F"/>
                </a:solidFill>
              </a:rPr>
              <a:t>Decision model</a:t>
            </a:r>
            <a:endParaRPr lang="en-US" sz="1200" dirty="0"/>
          </a:p>
        </p:txBody>
      </p:sp>
      <p:sp>
        <p:nvSpPr>
          <p:cNvPr id="8" name="Text 6"/>
          <p:cNvSpPr txBox="1"/>
          <p:nvPr/>
        </p:nvSpPr>
        <p:spPr>
          <a:xfrm>
            <a:off x="4297680" y="5532120"/>
            <a:ext cx="3566160" cy="411480"/>
          </a:xfrm>
          <a:prstGeom prst="rect">
            <a:avLst/>
          </a:prstGeom>
          <a:noFill/>
          <a:ln/>
        </p:spPr>
        <p:txBody>
          <a:bodyPr wrap="square" lIns="0" tIns="0" rIns="0" bIns="0" rtlCol="0" anchor="t"/>
          <a:lstStyle/>
          <a:p>
            <a:pPr indent="0" marL="0">
              <a:buNone/>
            </a:pPr>
            <a:r>
              <a:rPr lang="en-US" sz="1800" b="1" dirty="0">
                <a:solidFill>
                  <a:srgbClr val="F7F6F2"/>
                </a:solidFill>
              </a:rPr>
              <a:t>Moaaz Abd Aljawwad</a:t>
            </a:r>
            <a:endParaRPr lang="en-US" sz="1800" dirty="0"/>
          </a:p>
        </p:txBody>
      </p:sp>
      <p:sp>
        <p:nvSpPr>
          <p:cNvPr id="9" name="Text 7"/>
          <p:cNvSpPr txBox="1"/>
          <p:nvPr/>
        </p:nvSpPr>
        <p:spPr>
          <a:xfrm>
            <a:off x="8046720" y="5257800"/>
            <a:ext cx="3566160" cy="274320"/>
          </a:xfrm>
          <a:prstGeom prst="rect">
            <a:avLst/>
          </a:prstGeom>
          <a:noFill/>
          <a:ln/>
        </p:spPr>
        <p:txBody>
          <a:bodyPr wrap="square" lIns="0" tIns="0" rIns="0" bIns="0" rtlCol="0" anchor="t"/>
          <a:lstStyle/>
          <a:p>
            <a:pPr indent="0" marL="0">
              <a:buNone/>
            </a:pPr>
            <a:r>
              <a:rPr lang="en-US" sz="1200" b="1" dirty="0">
                <a:solidFill>
                  <a:srgbClr val="7FD1A8"/>
                </a:solidFill>
              </a:rPr>
              <a:t>ML classifier &amp; comparison</a:t>
            </a:r>
            <a:endParaRPr lang="en-US" sz="1200" dirty="0"/>
          </a:p>
        </p:txBody>
      </p:sp>
      <p:sp>
        <p:nvSpPr>
          <p:cNvPr id="10" name="Text 8"/>
          <p:cNvSpPr txBox="1"/>
          <p:nvPr/>
        </p:nvSpPr>
        <p:spPr>
          <a:xfrm>
            <a:off x="8046720" y="5532120"/>
            <a:ext cx="3566160" cy="411480"/>
          </a:xfrm>
          <a:prstGeom prst="rect">
            <a:avLst/>
          </a:prstGeom>
          <a:noFill/>
          <a:ln/>
        </p:spPr>
        <p:txBody>
          <a:bodyPr wrap="square" lIns="0" tIns="0" rIns="0" bIns="0" rtlCol="0" anchor="t"/>
          <a:lstStyle/>
          <a:p>
            <a:pPr indent="0" marL="0">
              <a:buNone/>
            </a:pPr>
            <a:r>
              <a:rPr lang="en-US" sz="1800" b="1" dirty="0">
                <a:solidFill>
                  <a:srgbClr val="F7F6F2"/>
                </a:solidFill>
              </a:rPr>
              <a:t>Omar Ahmed Ramadan</a:t>
            </a:r>
            <a:endParaRPr lang="en-US" sz="1800" dirty="0"/>
          </a:p>
        </p:txBody>
      </p:sp>
      <p:sp>
        <p:nvSpPr>
          <p:cNvPr id="11" name="Text 9"/>
          <p:cNvSpPr txBox="1"/>
          <p:nvPr/>
        </p:nvSpPr>
        <p:spPr>
          <a:xfrm>
            <a:off x="548640" y="6172200"/>
            <a:ext cx="11094415" cy="274320"/>
          </a:xfrm>
          <a:prstGeom prst="rect">
            <a:avLst/>
          </a:prstGeom>
          <a:noFill/>
          <a:ln/>
        </p:spPr>
        <p:txBody>
          <a:bodyPr wrap="square" lIns="0" tIns="0" rIns="0" bIns="0" rtlCol="0" anchor="t"/>
          <a:lstStyle/>
          <a:p>
            <a:pPr indent="0" marL="0">
              <a:buNone/>
            </a:pPr>
            <a:r>
              <a:rPr lang="en-US" sz="1200" dirty="0">
                <a:solidFill>
                  <a:srgbClr val="8A97AD"/>
                </a:solidFill>
              </a:rPr>
              <a:t>Elsewedy University of Technology · 26 October 2026</a:t>
            </a:r>
            <a:endParaRPr lang="en-US" sz="1200" dirty="0"/>
          </a:p>
        </p:txBody>
      </p:sp>
      <p:sp>
        <p:nvSpPr>
          <p:cNvPr id="13" name="Text 0"/>
          <p:cNvSpPr/>
          <p:nvPr>
            <p:ph idx="100" type="title" hasCustomPrompt="1"/>
          </p:nvPr>
        </p:nvSpPr>
        <p:spPr>
          <a:xfrm>
            <a:off x="548640" y="713232"/>
            <a:ext cx="11094415" cy="1371600"/>
          </a:xfrm>
          <a:prstGeom prst="rect">
            <a:avLst/>
          </a:prstGeom>
          <a:noFill/>
          <a:ln/>
        </p:spPr>
        <p:txBody>
          <a:bodyPr wrap="square" lIns="0" tIns="0" rIns="0" bIns="0" rtlCol="0" anchor="t"/>
          <a:lstStyle/>
          <a:p>
            <a:pPr algn="l" indent="0" marL="0">
              <a:buNone/>
            </a:pP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2A78D6"/>
          </a:solidFill>
          <a:ln w="12700">
            <a:solidFill>
              <a:srgbClr val="2A78D6"/>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AHMED</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2A78D6"/>
                </a:solidFill>
                <a:latin typeface="Courier New" pitchFamily="34" charset="0"/>
                <a:ea typeface="Courier New" pitchFamily="34" charset="-122"/>
                <a:cs typeface="Courier New" pitchFamily="34" charset="-120"/>
              </a:rPr>
              <a:t>THE PROBLEM</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Our block: message in, routing flag out</a:t>
            </a:r>
            <a:endParaRPr lang="en-US" sz="3200" dirty="0"/>
          </a:p>
        </p:txBody>
      </p:sp>
      <p:sp>
        <p:nvSpPr>
          <p:cNvPr id="6" name="Shape 4"/>
          <p:cNvSpPr/>
          <p:nvPr/>
        </p:nvSpPr>
        <p:spPr>
          <a:xfrm>
            <a:off x="548640" y="1920240"/>
            <a:ext cx="2743200" cy="1828800"/>
          </a:xfrm>
          <a:prstGeom prst="roundRect">
            <a:avLst>
              <a:gd name="adj" fmla="val 5000"/>
            </a:avLst>
          </a:prstGeom>
          <a:solidFill>
            <a:srgbClr val="FFFFFF"/>
          </a:solidFill>
          <a:ln w="12700">
            <a:solidFill>
              <a:srgbClr val="D5D8DE"/>
            </a:solidFill>
            <a:prstDash val="solid"/>
          </a:ln>
        </p:spPr>
      </p:sp>
      <p:sp>
        <p:nvSpPr>
          <p:cNvPr id="7" name="Text 5"/>
          <p:cNvSpPr txBox="1"/>
          <p:nvPr/>
        </p:nvSpPr>
        <p:spPr>
          <a:xfrm>
            <a:off x="777240" y="2103120"/>
            <a:ext cx="2286000" cy="365760"/>
          </a:xfrm>
          <a:prstGeom prst="rect">
            <a:avLst/>
          </a:prstGeom>
          <a:noFill/>
          <a:ln/>
        </p:spPr>
        <p:txBody>
          <a:bodyPr wrap="square" lIns="0" tIns="0" rIns="0" bIns="0" rtlCol="0" anchor="t"/>
          <a:lstStyle/>
          <a:p>
            <a:pPr indent="0" marL="0">
              <a:buNone/>
            </a:pPr>
            <a:r>
              <a:rPr lang="en-US" sz="1700" b="1" dirty="0">
                <a:solidFill>
                  <a:srgbClr val="14213D"/>
                </a:solidFill>
              </a:rPr>
              <a:t>Customer message</a:t>
            </a:r>
            <a:endParaRPr lang="en-US" sz="1700" dirty="0"/>
          </a:p>
        </p:txBody>
      </p:sp>
      <p:sp>
        <p:nvSpPr>
          <p:cNvPr id="8" name="Text 6"/>
          <p:cNvSpPr txBox="1"/>
          <p:nvPr/>
        </p:nvSpPr>
        <p:spPr>
          <a:xfrm>
            <a:off x="777240" y="2560320"/>
            <a:ext cx="2286000" cy="1005840"/>
          </a:xfrm>
          <a:prstGeom prst="rect">
            <a:avLst/>
          </a:prstGeom>
          <a:noFill/>
          <a:ln/>
        </p:spPr>
        <p:txBody>
          <a:bodyPr wrap="square" lIns="0" tIns="0" rIns="0" bIns="0" rtlCol="0" anchor="t"/>
          <a:lstStyle/>
          <a:p>
            <a:pPr indent="0" marL="0">
              <a:buNone/>
            </a:pPr>
            <a:r>
              <a:rPr lang="en-US" sz="1400" i="1" dirty="0">
                <a:solidFill>
                  <a:srgbClr val="4A5568"/>
                </a:solidFill>
              </a:rPr>
              <a:t>“Our CNC lathe stopped and shows alarm 2031, please help.”</a:t>
            </a:r>
            <a:endParaRPr lang="en-US" sz="1400" dirty="0"/>
          </a:p>
        </p:txBody>
      </p:sp>
      <p:sp>
        <p:nvSpPr>
          <p:cNvPr id="9" name="Shape 7"/>
          <p:cNvSpPr/>
          <p:nvPr/>
        </p:nvSpPr>
        <p:spPr>
          <a:xfrm>
            <a:off x="3474720" y="2651760"/>
            <a:ext cx="548640" cy="365760"/>
          </a:xfrm>
          <a:prstGeom prst="rightArrow">
            <a:avLst/>
          </a:prstGeom>
          <a:solidFill>
            <a:srgbClr val="8A97AD"/>
          </a:solidFill>
          <a:ln w="12700">
            <a:solidFill>
              <a:srgbClr val="8A97AD"/>
            </a:solidFill>
            <a:prstDash val="solid"/>
          </a:ln>
        </p:spPr>
      </p:sp>
      <p:sp>
        <p:nvSpPr>
          <p:cNvPr id="10" name="Shape 8"/>
          <p:cNvSpPr/>
          <p:nvPr/>
        </p:nvSpPr>
        <p:spPr>
          <a:xfrm>
            <a:off x="4160520" y="1920240"/>
            <a:ext cx="2926080" cy="1828800"/>
          </a:xfrm>
          <a:prstGeom prst="roundRect">
            <a:avLst>
              <a:gd name="adj" fmla="val 5000"/>
            </a:avLst>
          </a:prstGeom>
          <a:solidFill>
            <a:srgbClr val="14213D"/>
          </a:solidFill>
          <a:ln w="12700">
            <a:solidFill>
              <a:srgbClr val="14213D"/>
            </a:solidFill>
            <a:prstDash val="solid"/>
          </a:ln>
        </p:spPr>
      </p:sp>
      <p:sp>
        <p:nvSpPr>
          <p:cNvPr id="11" name="Text 9"/>
          <p:cNvSpPr txBox="1"/>
          <p:nvPr/>
        </p:nvSpPr>
        <p:spPr>
          <a:xfrm>
            <a:off x="4389120" y="2103120"/>
            <a:ext cx="2468880" cy="365760"/>
          </a:xfrm>
          <a:prstGeom prst="rect">
            <a:avLst/>
          </a:prstGeom>
          <a:noFill/>
          <a:ln/>
        </p:spPr>
        <p:txBody>
          <a:bodyPr wrap="square" lIns="0" tIns="0" rIns="0" bIns="0" rtlCol="0" anchor="t"/>
          <a:lstStyle/>
          <a:p>
            <a:pPr indent="0" marL="0">
              <a:buNone/>
            </a:pPr>
            <a:r>
              <a:rPr lang="en-US" sz="1700" b="1" dirty="0">
                <a:solidFill>
                  <a:srgbClr val="F7F6F2"/>
                </a:solidFill>
              </a:rPr>
              <a:t>KIO intent router</a:t>
            </a:r>
            <a:endParaRPr lang="en-US" sz="1700" dirty="0"/>
          </a:p>
        </p:txBody>
      </p:sp>
      <p:sp>
        <p:nvSpPr>
          <p:cNvPr id="12" name="Text 10"/>
          <p:cNvSpPr txBox="1"/>
          <p:nvPr/>
        </p:nvSpPr>
        <p:spPr>
          <a:xfrm>
            <a:off x="4389120" y="2560320"/>
            <a:ext cx="2468880" cy="1005840"/>
          </a:xfrm>
          <a:prstGeom prst="rect">
            <a:avLst/>
          </a:prstGeom>
          <a:noFill/>
          <a:ln/>
        </p:spPr>
        <p:txBody>
          <a:bodyPr wrap="square" lIns="0" tIns="0" rIns="0" bIns="0" rtlCol="0" anchor="t"/>
          <a:lstStyle/>
          <a:p>
            <a:pPr indent="0" marL="0">
              <a:buNone/>
            </a:pPr>
            <a:r>
              <a:rPr lang="en-US" sz="1400" dirty="0">
                <a:solidFill>
                  <a:srgbClr val="C9D3E3"/>
                </a:solidFill>
              </a:rPr>
              <a:t>The block we built twice: ML classifier and decision model</a:t>
            </a:r>
            <a:endParaRPr lang="en-US" sz="1400" dirty="0"/>
          </a:p>
        </p:txBody>
      </p:sp>
      <p:sp>
        <p:nvSpPr>
          <p:cNvPr id="13" name="Shape 11"/>
          <p:cNvSpPr/>
          <p:nvPr/>
        </p:nvSpPr>
        <p:spPr>
          <a:xfrm>
            <a:off x="7223760" y="2651760"/>
            <a:ext cx="548640" cy="365760"/>
          </a:xfrm>
          <a:prstGeom prst="rightArrow">
            <a:avLst/>
          </a:prstGeom>
          <a:solidFill>
            <a:srgbClr val="8A97AD"/>
          </a:solidFill>
          <a:ln w="12700">
            <a:solidFill>
              <a:srgbClr val="8A97AD"/>
            </a:solidFill>
            <a:prstDash val="solid"/>
          </a:ln>
        </p:spPr>
      </p:sp>
      <p:sp>
        <p:nvSpPr>
          <p:cNvPr id="14" name="Shape 12"/>
          <p:cNvSpPr/>
          <p:nvPr/>
        </p:nvSpPr>
        <p:spPr>
          <a:xfrm>
            <a:off x="7909560" y="1920240"/>
            <a:ext cx="3730752" cy="868680"/>
          </a:xfrm>
          <a:prstGeom prst="roundRect">
            <a:avLst>
              <a:gd name="adj" fmla="val 10526"/>
            </a:avLst>
          </a:prstGeom>
          <a:solidFill>
            <a:srgbClr val="E3EEFB"/>
          </a:solidFill>
          <a:ln w="12700">
            <a:solidFill>
              <a:srgbClr val="E3EEFB"/>
            </a:solidFill>
            <a:prstDash val="solid"/>
          </a:ln>
        </p:spPr>
      </p:sp>
      <p:sp>
        <p:nvSpPr>
          <p:cNvPr id="15" name="Text 13"/>
          <p:cNvSpPr txBox="1"/>
          <p:nvPr/>
        </p:nvSpPr>
        <p:spPr>
          <a:xfrm>
            <a:off x="8092440" y="2011680"/>
            <a:ext cx="3383280" cy="320040"/>
          </a:xfrm>
          <a:prstGeom prst="rect">
            <a:avLst/>
          </a:prstGeom>
          <a:noFill/>
          <a:ln/>
        </p:spPr>
        <p:txBody>
          <a:bodyPr wrap="square" lIns="0" tIns="0" rIns="0" bIns="0" rtlCol="0" anchor="t"/>
          <a:lstStyle/>
          <a:p>
            <a:pPr indent="0" marL="0">
              <a:buNone/>
            </a:pPr>
            <a:r>
              <a:rPr lang="en-US" sz="1600" b="1" dirty="0">
                <a:solidFill>
                  <a:srgbClr val="14213D"/>
                </a:solidFill>
              </a:rPr>
              <a:t>Flag 0 → Support agent</a:t>
            </a:r>
            <a:endParaRPr lang="en-US" sz="1600" dirty="0"/>
          </a:p>
        </p:txBody>
      </p:sp>
      <p:sp>
        <p:nvSpPr>
          <p:cNvPr id="16" name="Text 14"/>
          <p:cNvSpPr txBox="1"/>
          <p:nvPr/>
        </p:nvSpPr>
        <p:spPr>
          <a:xfrm>
            <a:off x="8092440" y="2377440"/>
            <a:ext cx="3383280" cy="320040"/>
          </a:xfrm>
          <a:prstGeom prst="rect">
            <a:avLst/>
          </a:prstGeom>
          <a:noFill/>
          <a:ln/>
        </p:spPr>
        <p:txBody>
          <a:bodyPr wrap="square" lIns="0" tIns="0" rIns="0" bIns="0" rtlCol="0" anchor="t"/>
          <a:lstStyle/>
          <a:p>
            <a:pPr indent="0" marL="0">
              <a:buNone/>
            </a:pPr>
            <a:r>
              <a:rPr lang="en-US" sz="1300" dirty="0">
                <a:solidFill>
                  <a:srgbClr val="4A5568"/>
                </a:solidFill>
              </a:rPr>
              <a:t>Problems, complaints, existing orders</a:t>
            </a:r>
            <a:endParaRPr lang="en-US" sz="1300" dirty="0"/>
          </a:p>
        </p:txBody>
      </p:sp>
      <p:sp>
        <p:nvSpPr>
          <p:cNvPr id="17" name="Shape 15"/>
          <p:cNvSpPr/>
          <p:nvPr/>
        </p:nvSpPr>
        <p:spPr>
          <a:xfrm>
            <a:off x="7909560" y="2880360"/>
            <a:ext cx="3730752" cy="868680"/>
          </a:xfrm>
          <a:prstGeom prst="roundRect">
            <a:avLst>
              <a:gd name="adj" fmla="val 10526"/>
            </a:avLst>
          </a:prstGeom>
          <a:solidFill>
            <a:srgbClr val="FCE6DC"/>
          </a:solidFill>
          <a:ln w="12700">
            <a:solidFill>
              <a:srgbClr val="FCE6DC"/>
            </a:solidFill>
            <a:prstDash val="solid"/>
          </a:ln>
        </p:spPr>
      </p:sp>
      <p:sp>
        <p:nvSpPr>
          <p:cNvPr id="18" name="Text 16"/>
          <p:cNvSpPr txBox="1"/>
          <p:nvPr/>
        </p:nvSpPr>
        <p:spPr>
          <a:xfrm>
            <a:off x="8092440" y="2971800"/>
            <a:ext cx="3383280" cy="320040"/>
          </a:xfrm>
          <a:prstGeom prst="rect">
            <a:avLst/>
          </a:prstGeom>
          <a:noFill/>
          <a:ln/>
        </p:spPr>
        <p:txBody>
          <a:bodyPr wrap="square" lIns="0" tIns="0" rIns="0" bIns="0" rtlCol="0" anchor="t"/>
          <a:lstStyle/>
          <a:p>
            <a:pPr indent="0" marL="0">
              <a:buNone/>
            </a:pPr>
            <a:r>
              <a:rPr lang="en-US" sz="1600" b="1" dirty="0">
                <a:solidFill>
                  <a:srgbClr val="14213D"/>
                </a:solidFill>
              </a:rPr>
              <a:t>Flag 1 → Sales agent</a:t>
            </a:r>
            <a:endParaRPr lang="en-US" sz="1600" dirty="0"/>
          </a:p>
        </p:txBody>
      </p:sp>
      <p:sp>
        <p:nvSpPr>
          <p:cNvPr id="19" name="Text 17"/>
          <p:cNvSpPr txBox="1"/>
          <p:nvPr/>
        </p:nvSpPr>
        <p:spPr>
          <a:xfrm>
            <a:off x="8092440" y="3337560"/>
            <a:ext cx="3383280" cy="320040"/>
          </a:xfrm>
          <a:prstGeom prst="rect">
            <a:avLst/>
          </a:prstGeom>
          <a:noFill/>
          <a:ln/>
        </p:spPr>
        <p:txBody>
          <a:bodyPr wrap="square" lIns="0" tIns="0" rIns="0" bIns="0" rtlCol="0" anchor="t"/>
          <a:lstStyle/>
          <a:p>
            <a:pPr indent="0" marL="0">
              <a:buNone/>
            </a:pPr>
            <a:r>
              <a:rPr lang="en-US" sz="1300" dirty="0">
                <a:solidFill>
                  <a:srgbClr val="4A5568"/>
                </a:solidFill>
              </a:rPr>
              <a:t>New purchases, packages, quotes</a:t>
            </a:r>
            <a:endParaRPr lang="en-US" sz="1300" dirty="0"/>
          </a:p>
        </p:txBody>
      </p:sp>
      <p:sp>
        <p:nvSpPr>
          <p:cNvPr id="20" name="Text 18"/>
          <p:cNvSpPr txBox="1"/>
          <p:nvPr/>
        </p:nvSpPr>
        <p:spPr>
          <a:xfrm>
            <a:off x="548640" y="4251960"/>
            <a:ext cx="10515600" cy="914400"/>
          </a:xfrm>
          <a:prstGeom prst="rect">
            <a:avLst/>
          </a:prstGeom>
          <a:noFill/>
          <a:ln/>
        </p:spPr>
        <p:txBody>
          <a:bodyPr wrap="square" lIns="0" tIns="0" rIns="0" bIns="0" rtlCol="0" anchor="t"/>
          <a:lstStyle/>
          <a:p>
            <a:pPr indent="0" marL="0">
              <a:buNone/>
            </a:pPr>
            <a:r>
              <a:rPr lang="en-US" sz="1700" dirty="0">
                <a:solidFill>
                  <a:srgbClr val="4A5568"/>
                </a:solidFill>
              </a:rPr>
              <a:t>Routing picks the workflow; retrieval (RAG) then searches inside it. A wrong route means the wrong tools and knowledge base: a stopped machine reaches a salesperson, or a ready buyer waits in the support queue.</a:t>
            </a:r>
            <a:endParaRPr lang="en-US" sz="1700" dirty="0"/>
          </a:p>
        </p:txBody>
      </p:sp>
      <p:sp>
        <p:nvSpPr>
          <p:cNvPr id="21" name="Text 19"/>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In our demo both agents are Python functions that print their names — the full chatbot and RAG are outside this project.</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2A78D6"/>
          </a:solidFill>
          <a:ln w="12700">
            <a:solidFill>
              <a:srgbClr val="2A78D6"/>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AHMED</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2A78D6"/>
                </a:solidFill>
                <a:latin typeface="Courier New" pitchFamily="34" charset="0"/>
                <a:ea typeface="Courier New" pitchFamily="34" charset="-122"/>
                <a:cs typeface="Courier New" pitchFamily="34" charset="-120"/>
              </a:rPr>
              <a:t>THE DATASET</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60 synthetic messages from a manufacturing supplier</a:t>
            </a:r>
            <a:endParaRPr lang="en-US" sz="3200" dirty="0"/>
          </a:p>
        </p:txBody>
      </p:sp>
      <p:sp>
        <p:nvSpPr>
          <p:cNvPr id="6" name="Shape 4"/>
          <p:cNvSpPr/>
          <p:nvPr/>
        </p:nvSpPr>
        <p:spPr>
          <a:xfrm>
            <a:off x="548640" y="1737360"/>
            <a:ext cx="3515258" cy="3291840"/>
          </a:xfrm>
          <a:prstGeom prst="roundRect">
            <a:avLst>
              <a:gd name="adj" fmla="val 2778"/>
            </a:avLst>
          </a:prstGeom>
          <a:solidFill>
            <a:srgbClr val="FFFFFF"/>
          </a:solidFill>
          <a:ln w="12700">
            <a:solidFill>
              <a:srgbClr val="D5D8DE"/>
            </a:solidFill>
            <a:prstDash val="solid"/>
          </a:ln>
        </p:spPr>
      </p:sp>
      <p:sp>
        <p:nvSpPr>
          <p:cNvPr id="7" name="Text 5"/>
          <p:cNvSpPr txBox="1"/>
          <p:nvPr/>
        </p:nvSpPr>
        <p:spPr>
          <a:xfrm>
            <a:off x="822960" y="1920240"/>
            <a:ext cx="2966618" cy="731520"/>
          </a:xfrm>
          <a:prstGeom prst="rect">
            <a:avLst/>
          </a:prstGeom>
          <a:noFill/>
          <a:ln/>
        </p:spPr>
        <p:txBody>
          <a:bodyPr wrap="square" lIns="0" tIns="0" rIns="0" bIns="0" rtlCol="0" anchor="t"/>
          <a:lstStyle/>
          <a:p>
            <a:pPr indent="0" marL="0">
              <a:buNone/>
            </a:pPr>
            <a:r>
              <a:rPr lang="en-US" sz="3600" b="1" dirty="0">
                <a:solidFill>
                  <a:srgbClr val="14213D"/>
                </a:solidFill>
              </a:rPr>
              <a:t>30 + 30</a:t>
            </a:r>
            <a:endParaRPr lang="en-US" sz="3600" dirty="0"/>
          </a:p>
        </p:txBody>
      </p:sp>
      <p:sp>
        <p:nvSpPr>
          <p:cNvPr id="8" name="Text 6"/>
          <p:cNvSpPr txBox="1"/>
          <p:nvPr/>
        </p:nvSpPr>
        <p:spPr>
          <a:xfrm>
            <a:off x="822960" y="2697480"/>
            <a:ext cx="2966618" cy="365760"/>
          </a:xfrm>
          <a:prstGeom prst="rect">
            <a:avLst/>
          </a:prstGeom>
          <a:noFill/>
          <a:ln/>
        </p:spPr>
        <p:txBody>
          <a:bodyPr wrap="square" lIns="0" tIns="0" rIns="0" bIns="0" rtlCol="0" anchor="t"/>
          <a:lstStyle/>
          <a:p>
            <a:pPr indent="0" marL="0">
              <a:buNone/>
            </a:pPr>
            <a:r>
              <a:rPr lang="en-US" sz="1700" b="1" dirty="0">
                <a:solidFill>
                  <a:srgbClr val="14213D"/>
                </a:solidFill>
              </a:rPr>
              <a:t>Generation</a:t>
            </a:r>
            <a:endParaRPr lang="en-US" sz="1700" dirty="0"/>
          </a:p>
        </p:txBody>
      </p:sp>
      <p:sp>
        <p:nvSpPr>
          <p:cNvPr id="9" name="Text 7"/>
          <p:cNvSpPr txBox="1"/>
          <p:nvPr/>
        </p:nvSpPr>
        <p:spPr>
          <a:xfrm>
            <a:off x="822960" y="3108960"/>
            <a:ext cx="2966618" cy="1828800"/>
          </a:xfrm>
          <a:prstGeom prst="rect">
            <a:avLst/>
          </a:prstGeom>
          <a:noFill/>
          <a:ln/>
        </p:spPr>
        <p:txBody>
          <a:bodyPr wrap="square" lIns="0" tIns="0" rIns="0" bIns="0" rtlCol="0" anchor="t"/>
          <a:lstStyle/>
          <a:p>
            <a:pPr indent="0" marL="0">
              <a:buNone/>
            </a:pPr>
            <a:r>
              <a:rPr lang="en-US" sz="1400" dirty="0">
                <a:solidFill>
                  <a:srgbClr val="4A5568"/>
                </a:solidFill>
              </a:rPr>
              <a:t>Customers of a CNC, robot and compressor supplier. 15 intents per class, each written twice: an original and a paraphrase (same group_id). Drafted with an AI assistant, then reviewed line by line by the team.</a:t>
            </a:r>
            <a:endParaRPr lang="en-US" sz="1400" dirty="0"/>
          </a:p>
        </p:txBody>
      </p:sp>
      <p:sp>
        <p:nvSpPr>
          <p:cNvPr id="10" name="Shape 8"/>
          <p:cNvSpPr/>
          <p:nvPr/>
        </p:nvSpPr>
        <p:spPr>
          <a:xfrm>
            <a:off x="4338218" y="1737360"/>
            <a:ext cx="3515258" cy="3291840"/>
          </a:xfrm>
          <a:prstGeom prst="roundRect">
            <a:avLst>
              <a:gd name="adj" fmla="val 2778"/>
            </a:avLst>
          </a:prstGeom>
          <a:solidFill>
            <a:srgbClr val="FFFFFF"/>
          </a:solidFill>
          <a:ln w="12700">
            <a:solidFill>
              <a:srgbClr val="D5D8DE"/>
            </a:solidFill>
            <a:prstDash val="solid"/>
          </a:ln>
        </p:spPr>
      </p:sp>
      <p:sp>
        <p:nvSpPr>
          <p:cNvPr id="11" name="Text 9"/>
          <p:cNvSpPr txBox="1"/>
          <p:nvPr/>
        </p:nvSpPr>
        <p:spPr>
          <a:xfrm>
            <a:off x="4612538" y="1920240"/>
            <a:ext cx="2966618" cy="731520"/>
          </a:xfrm>
          <a:prstGeom prst="rect">
            <a:avLst/>
          </a:prstGeom>
          <a:noFill/>
          <a:ln/>
        </p:spPr>
        <p:txBody>
          <a:bodyPr wrap="square" lIns="0" tIns="0" rIns="0" bIns="0" rtlCol="0" anchor="t"/>
          <a:lstStyle/>
          <a:p>
            <a:pPr indent="0" marL="0">
              <a:buNone/>
            </a:pPr>
            <a:r>
              <a:rPr lang="en-US" sz="3600" b="1" dirty="0">
                <a:solidFill>
                  <a:srgbClr val="14213D"/>
                </a:solidFill>
              </a:rPr>
              <a:t>1 rule</a:t>
            </a:r>
            <a:endParaRPr lang="en-US" sz="3600" dirty="0"/>
          </a:p>
        </p:txBody>
      </p:sp>
      <p:sp>
        <p:nvSpPr>
          <p:cNvPr id="12" name="Text 10"/>
          <p:cNvSpPr txBox="1"/>
          <p:nvPr/>
        </p:nvSpPr>
        <p:spPr>
          <a:xfrm>
            <a:off x="4612538" y="2697480"/>
            <a:ext cx="2966618" cy="365760"/>
          </a:xfrm>
          <a:prstGeom prst="rect">
            <a:avLst/>
          </a:prstGeom>
          <a:noFill/>
          <a:ln/>
        </p:spPr>
        <p:txBody>
          <a:bodyPr wrap="square" lIns="0" tIns="0" rIns="0" bIns="0" rtlCol="0" anchor="t"/>
          <a:lstStyle/>
          <a:p>
            <a:pPr indent="0" marL="0">
              <a:buNone/>
            </a:pPr>
            <a:r>
              <a:rPr lang="en-US" sz="1700" b="1" dirty="0">
                <a:solidFill>
                  <a:srgbClr val="14213D"/>
                </a:solidFill>
              </a:rPr>
              <a:t>Labels</a:t>
            </a:r>
            <a:endParaRPr lang="en-US" sz="1700" dirty="0"/>
          </a:p>
        </p:txBody>
      </p:sp>
      <p:sp>
        <p:nvSpPr>
          <p:cNvPr id="13" name="Text 11"/>
          <p:cNvSpPr txBox="1"/>
          <p:nvPr/>
        </p:nvSpPr>
        <p:spPr>
          <a:xfrm>
            <a:off x="4612538" y="3108960"/>
            <a:ext cx="2966618" cy="1828800"/>
          </a:xfrm>
          <a:prstGeom prst="rect">
            <a:avLst/>
          </a:prstGeom>
          <a:noFill/>
          <a:ln/>
        </p:spPr>
        <p:txBody>
          <a:bodyPr wrap="square" lIns="0" tIns="0" rIns="0" bIns="0" rtlCol="0" anchor="t"/>
          <a:lstStyle/>
          <a:p>
            <a:pPr indent="0" marL="0">
              <a:buNone/>
            </a:pPr>
            <a:r>
              <a:rPr lang="en-US" sz="1400" dirty="0">
                <a:solidFill>
                  <a:srgbClr val="4A5568"/>
                </a:solidFill>
              </a:rPr>
              <a:t>0 = support: something the customer already has is wrong. 1 = sales: they want something new. Mixed intent goes to support (existing problems first). Agreed by the team before any test.</a:t>
            </a:r>
            <a:endParaRPr lang="en-US" sz="1400" dirty="0"/>
          </a:p>
        </p:txBody>
      </p:sp>
      <p:sp>
        <p:nvSpPr>
          <p:cNvPr id="14" name="Shape 12"/>
          <p:cNvSpPr/>
          <p:nvPr/>
        </p:nvSpPr>
        <p:spPr>
          <a:xfrm>
            <a:off x="8127797" y="1737360"/>
            <a:ext cx="3515258" cy="3291840"/>
          </a:xfrm>
          <a:prstGeom prst="roundRect">
            <a:avLst>
              <a:gd name="adj" fmla="val 2778"/>
            </a:avLst>
          </a:prstGeom>
          <a:solidFill>
            <a:srgbClr val="FFFFFF"/>
          </a:solidFill>
          <a:ln w="12700">
            <a:solidFill>
              <a:srgbClr val="D5D8DE"/>
            </a:solidFill>
            <a:prstDash val="solid"/>
          </a:ln>
        </p:spPr>
      </p:sp>
      <p:sp>
        <p:nvSpPr>
          <p:cNvPr id="15" name="Text 13"/>
          <p:cNvSpPr txBox="1"/>
          <p:nvPr/>
        </p:nvSpPr>
        <p:spPr>
          <a:xfrm>
            <a:off x="8402117" y="1920240"/>
            <a:ext cx="2966618" cy="731520"/>
          </a:xfrm>
          <a:prstGeom prst="rect">
            <a:avLst/>
          </a:prstGeom>
          <a:noFill/>
          <a:ln/>
        </p:spPr>
        <p:txBody>
          <a:bodyPr wrap="square" lIns="0" tIns="0" rIns="0" bIns="0" rtlCol="0" anchor="t"/>
          <a:lstStyle/>
          <a:p>
            <a:pPr indent="0" marL="0">
              <a:buNone/>
            </a:pPr>
            <a:r>
              <a:rPr lang="en-US" sz="3600" b="1" dirty="0">
                <a:solidFill>
                  <a:srgbClr val="14213D"/>
                </a:solidFill>
              </a:rPr>
              <a:t>40 / 20</a:t>
            </a:r>
            <a:endParaRPr lang="en-US" sz="3600" dirty="0"/>
          </a:p>
        </p:txBody>
      </p:sp>
      <p:sp>
        <p:nvSpPr>
          <p:cNvPr id="16" name="Text 14"/>
          <p:cNvSpPr txBox="1"/>
          <p:nvPr/>
        </p:nvSpPr>
        <p:spPr>
          <a:xfrm>
            <a:off x="8402117" y="2697480"/>
            <a:ext cx="2966618" cy="365760"/>
          </a:xfrm>
          <a:prstGeom prst="rect">
            <a:avLst/>
          </a:prstGeom>
          <a:noFill/>
          <a:ln/>
        </p:spPr>
        <p:txBody>
          <a:bodyPr wrap="square" lIns="0" tIns="0" rIns="0" bIns="0" rtlCol="0" anchor="t"/>
          <a:lstStyle/>
          <a:p>
            <a:pPr indent="0" marL="0">
              <a:buNone/>
            </a:pPr>
            <a:r>
              <a:rPr lang="en-US" sz="1700" b="1" dirty="0">
                <a:solidFill>
                  <a:srgbClr val="14213D"/>
                </a:solidFill>
              </a:rPr>
              <a:t>Split</a:t>
            </a:r>
            <a:endParaRPr lang="en-US" sz="1700" dirty="0"/>
          </a:p>
        </p:txBody>
      </p:sp>
      <p:sp>
        <p:nvSpPr>
          <p:cNvPr id="17" name="Text 15"/>
          <p:cNvSpPr txBox="1"/>
          <p:nvPr/>
        </p:nvSpPr>
        <p:spPr>
          <a:xfrm>
            <a:off x="8402117" y="3108960"/>
            <a:ext cx="2966618" cy="1828800"/>
          </a:xfrm>
          <a:prstGeom prst="rect">
            <a:avLst/>
          </a:prstGeom>
          <a:noFill/>
          <a:ln/>
        </p:spPr>
        <p:txBody>
          <a:bodyPr wrap="square" lIns="0" tIns="0" rIns="0" bIns="0" rtlCol="0" anchor="t"/>
          <a:lstStyle/>
          <a:p>
            <a:pPr indent="0" marL="0">
              <a:buNone/>
            </a:pPr>
            <a:r>
              <a:rPr lang="en-US" sz="1400" dirty="0">
                <a:solidFill>
                  <a:srgbClr val="4A5568"/>
                </a:solidFill>
              </a:rPr>
              <a:t>By intent group, random seed 42: 5 support + 5 sales groups held out. A paraphrase never crosses the split, so near-duplicates stay together. Train 20+20, test 10+10.</a:t>
            </a:r>
            <a:endParaRPr lang="en-US" sz="1400" dirty="0"/>
          </a:p>
        </p:txBody>
      </p:sp>
      <p:sp>
        <p:nvSpPr>
          <p:cNvPr id="18" name="Text 16"/>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1500" dirty="0">
                <a:solidFill>
                  <a:srgbClr val="4A5568"/>
                </a:solidFill>
              </a:rPr>
              <a:t>Hard cases on purpose: </a:t>
            </a:r>
            <a:pPr indent="0" marL="0">
              <a:buNone/>
            </a:pPr>
            <a:r>
              <a:rPr lang="en-US" sz="1500" b="1" dirty="0">
                <a:solidFill>
                  <a:srgbClr val="4A5568"/>
                </a:solidFill>
              </a:rPr>
              <a:t>negation</a:t>
            </a:r>
            <a:pPr indent="0" marL="0">
              <a:buNone/>
            </a:pPr>
            <a:r>
              <a:rPr lang="en-US" sz="1500" dirty="0">
                <a:solidFill>
                  <a:srgbClr val="4A5568"/>
                </a:solidFill>
              </a:rPr>
              <a:t> (6), </a:t>
            </a:r>
            <a:pPr indent="0" marL="0">
              <a:buNone/>
            </a:pPr>
            <a:r>
              <a:rPr lang="en-US" sz="1500" b="1" dirty="0">
                <a:solidFill>
                  <a:srgbClr val="4A5568"/>
                </a:solidFill>
              </a:rPr>
              <a:t>mixed intent</a:t>
            </a:r>
            <a:pPr indent="0" marL="0">
              <a:buNone/>
            </a:pPr>
            <a:r>
              <a:rPr lang="en-US" sz="1500" dirty="0">
                <a:solidFill>
                  <a:srgbClr val="4A5568"/>
                </a:solidFill>
              </a:rPr>
              <a:t> (4), late </a:t>
            </a:r>
            <a:pPr indent="0" marL="0">
              <a:buNone/>
            </a:pPr>
            <a:r>
              <a:rPr lang="en-US" sz="1500" b="1" dirty="0">
                <a:solidFill>
                  <a:srgbClr val="4A5568"/>
                </a:solidFill>
              </a:rPr>
              <a:t>existing orders</a:t>
            </a:r>
            <a:pPr indent="0" marL="0">
              <a:buNone/>
            </a:pPr>
            <a:r>
              <a:rPr lang="en-US" sz="1500" dirty="0">
                <a:solidFill>
                  <a:srgbClr val="4A5568"/>
                </a:solidFill>
              </a:rPr>
              <a:t> that use purchase words (2). Plus </a:t>
            </a:r>
            <a:pPr indent="0" marL="0">
              <a:buNone/>
            </a:pPr>
            <a:r>
              <a:rPr lang="en-US" sz="1500" b="1" dirty="0">
                <a:solidFill>
                  <a:srgbClr val="4A5568"/>
                </a:solidFill>
              </a:rPr>
              <a:t>8 new hard messages</a:t>
            </a:r>
            <a:pPr indent="0" marL="0">
              <a:buNone/>
            </a:pPr>
            <a:r>
              <a:rPr lang="en-US" sz="1500" dirty="0">
                <a:solidFill>
                  <a:srgbClr val="4A5568"/>
                </a:solidFill>
              </a:rPr>
              <a:t> written after the split as a stress test.</a:t>
            </a:r>
            <a:endParaRPr lang="en-US" sz="1500" dirty="0"/>
          </a:p>
        </p:txBody>
      </p:sp>
      <p:sp>
        <p:nvSpPr>
          <p:cNvPr id="19" name="Text 17"/>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Files: data/kio_routing_dataset.csv · data/stress_test.csv</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2A78D6"/>
          </a:solidFill>
          <a:ln w="12700">
            <a:solidFill>
              <a:srgbClr val="2A78D6"/>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AHMED</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2A78D6"/>
                </a:solidFill>
                <a:latin typeface="Courier New" pitchFamily="34" charset="0"/>
                <a:ea typeface="Courier New" pitchFamily="34" charset="-122"/>
                <a:cs typeface="Courier New" pitchFamily="34" charset="-120"/>
              </a:rPr>
              <a:t>SAMPLE ROWS</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Six rows from the dataset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731520"/>
                <a:gridCol w="6583680"/>
                <a:gridCol w="1234440"/>
                <a:gridCol w="1463040"/>
                <a:gridCol w="1078992"/>
              </a:tblGrid>
              <a:tr h="0">
                <a:tc>
                  <a:txBody>
                    <a:bodyPr/>
                    <a:lstStyle/>
                    <a:p>
                      <a:pPr indent="0" marL="0">
                        <a:buNone/>
                      </a:pPr>
                      <a:r>
                        <a:rPr lang="en-US" sz="1600" b="1" dirty="0">
                          <a:solidFill>
                            <a:srgbClr val="14213D"/>
                          </a:solidFill>
                        </a:rPr>
                        <a:t>ID</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600" b="1" dirty="0">
                          <a:solidFill>
                            <a:srgbClr val="14213D"/>
                          </a:solidFill>
                        </a:rPr>
                        <a:t>Message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600" b="1" dirty="0">
                          <a:solidFill>
                            <a:srgbClr val="14213D"/>
                          </a:solidFill>
                        </a:rPr>
                        <a:t>Label</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600" b="1" dirty="0">
                          <a:solidFill>
                            <a:srgbClr val="14213D"/>
                          </a:solidFill>
                        </a:rPr>
                        <a:t>Case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600" b="1" dirty="0">
                          <a:solidFill>
                            <a:srgbClr val="14213D"/>
                          </a:solidFill>
                        </a:rPr>
                        <a:t>Split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r>
              <a:tr h="0">
                <a:tc>
                  <a:txBody>
                    <a:bodyPr/>
                    <a:lstStyle/>
                    <a:p>
                      <a:pPr indent="0" marL="0">
                        <a:buNone/>
                      </a:pPr>
                      <a:r>
                        <a:rPr lang="en-US" sz="1600" dirty="0">
                          <a:solidFill>
                            <a:srgbClr val="14213D"/>
                          </a:solidFill>
                        </a:rPr>
                        <a:t>M01</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Our CNC lathe stopped mid-cycle and shows spindle alarm 2031, please help.</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0 support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paraphrase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test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rPr>
                        <a:t>M05</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I don’t want to buy a new compressor, I need the one we have repaired.</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0 support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negation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train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600" dirty="0">
                          <a:solidFill>
                            <a:srgbClr val="14213D"/>
                          </a:solidFill>
                        </a:rPr>
                        <a:t>M08</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Before we talk about buying more robots, the welding robot we bought is misaligning every weld.</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0 support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mixed</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train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rPr>
                        <a:t>M21</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We already ordered the packaging line, but delivery is two weeks late — where is it?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0 support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existing order</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train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600" dirty="0">
                          <a:solidFill>
                            <a:srgbClr val="14213D"/>
                          </a:solidFill>
                        </a:rPr>
                        <a:t>M35</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No issues with our current robots; we want to add a third cell.</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1 sales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negation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train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4213D"/>
                          </a:solidFill>
                        </a:rPr>
                        <a:t>M55</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Can your team quote a turnkey packaging line for 120 packs per minute?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1 sales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paraphrase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test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bl>
          </a:graphicData>
        </a:graphic>
      </p:graphicFrame>
      <p:sp>
        <p:nvSpPr>
          <p:cNvPr id="7" name="Text 4"/>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Columns: id, message, label, label_name, group_id, case_type, split</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2A78D6"/>
          </a:solidFill>
          <a:ln w="12700">
            <a:solidFill>
              <a:srgbClr val="2A78D6"/>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AHMED</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2A78D6"/>
                </a:solidFill>
                <a:latin typeface="Courier New" pitchFamily="34" charset="0"/>
                <a:ea typeface="Courier New" pitchFamily="34" charset="-122"/>
                <a:cs typeface="Courier New" pitchFamily="34" charset="-120"/>
              </a:rPr>
              <a:t>TWO APPROACHES, ONE FLAG</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Learned from examples vs. told by instructions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377440"/>
                <a:gridCol w="4361688"/>
                <a:gridCol w="4352544"/>
              </a:tblGrid>
              <a:tr h="0">
                <a:tc>
                  <a:txBody>
                    <a:bodyPr/>
                    <a:lstStyle/>
                    <a:p>
                      <a:pPr indent="0" marL="0">
                        <a:buNone/>
                      </a:pP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600" b="1" dirty="0">
                          <a:solidFill>
                            <a:srgbClr val="14213D"/>
                          </a:solidFill>
                        </a:rPr>
                        <a:t>Trained ML classifier</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600" b="1" dirty="0">
                          <a:solidFill>
                            <a:srgbClr val="14213D"/>
                          </a:solidFill>
                        </a:rPr>
                        <a:t>Decision model (BART-MNLI)</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r>
              <a:tr h="0">
                <a:tc>
                  <a:txBody>
                    <a:bodyPr/>
                    <a:lstStyle/>
                    <a:p>
                      <a:pPr indent="0" marL="0">
                        <a:buNone/>
                      </a:pPr>
                      <a:r>
                        <a:rPr lang="en-US" sz="1600" b="1" dirty="0">
                          <a:solidFill>
                            <a:srgbClr val="14213D"/>
                          </a:solidFill>
                        </a:rPr>
                        <a:t>Learns from</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Our 40 labelled training messages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Pre-trained on language inference; no training by us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213D"/>
                          </a:solidFill>
                        </a:rPr>
                        <a:t>Input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2 numbers per message (cue scores)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Raw message + two written routing options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600" b="1" dirty="0">
                          <a:solidFill>
                            <a:srgbClr val="14213D"/>
                          </a:solidFill>
                        </a:rPr>
                        <a:t>Output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P(sales) → flag 0 / 1</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{route, p_support, p_sales} → flag 0 / 1</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213D"/>
                          </a:solidFill>
                        </a:rPr>
                        <a:t>Changing a rule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Relabel data and retrain</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Edit the option text or the threshold</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600" b="1" dirty="0">
                          <a:solidFill>
                            <a:srgbClr val="14213D"/>
                          </a:solidFill>
                        </a:rPr>
                        <a:t>Runs</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Milliseconds, any laptop</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rPr>
                        <a:t>~1 s per message on CPU, 1.6 GB model</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213D"/>
                          </a:solidFill>
                        </a:rPr>
                        <a:t>Licence</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scikit-learn (BSD-3)</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600" dirty="0">
                          <a:solidFill>
                            <a:srgbClr val="14213D"/>
                          </a:solidFill>
                        </a:rPr>
                        <a:t>facebook/bart-large-mnli (MIT)</a:t>
                      </a:r>
                      <a:endParaRPr lang="en-US" sz="16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bl>
          </a:graphicData>
        </a:graphic>
      </p:graphicFrame>
      <p:sp>
        <p:nvSpPr>
          <p:cNvPr id="7" name="Text 4"/>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Jev from TypeSafe AI is the brief’s example decision API; it is paid and key-based, so we used an open-source model as the brief allows.</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B8451B"/>
          </a:solidFill>
          <a:ln w="12700">
            <a:solidFill>
              <a:srgbClr val="B8451B"/>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MOAAZ</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B8451B"/>
                </a:solidFill>
                <a:latin typeface="Courier New" pitchFamily="34" charset="0"/>
                <a:ea typeface="Courier New" pitchFamily="34" charset="-122"/>
                <a:cs typeface="Courier New" pitchFamily="34" charset="-120"/>
              </a:rPr>
              <a:t>DECISION MODEL · SETUP</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BART-large-MNLI as a zero-shot decision model</a:t>
            </a:r>
            <a:endParaRPr lang="en-US" sz="3200" dirty="0"/>
          </a:p>
        </p:txBody>
      </p:sp>
      <p:sp>
        <p:nvSpPr>
          <p:cNvPr id="6" name="Shape 4"/>
          <p:cNvSpPr/>
          <p:nvPr/>
        </p:nvSpPr>
        <p:spPr>
          <a:xfrm>
            <a:off x="548640" y="1691640"/>
            <a:ext cx="6035040" cy="4434840"/>
          </a:xfrm>
          <a:prstGeom prst="roundRect">
            <a:avLst>
              <a:gd name="adj" fmla="val 2062"/>
            </a:avLst>
          </a:prstGeom>
          <a:solidFill>
            <a:srgbClr val="1E2A44"/>
          </a:solidFill>
          <a:ln w="12700">
            <a:solidFill>
              <a:srgbClr val="1E2A44"/>
            </a:solidFill>
            <a:prstDash val="solid"/>
          </a:ln>
        </p:spPr>
      </p:sp>
      <p:sp>
        <p:nvSpPr>
          <p:cNvPr id="7" name="Text 5"/>
          <p:cNvSpPr txBox="1"/>
          <p:nvPr/>
        </p:nvSpPr>
        <p:spPr>
          <a:xfrm>
            <a:off x="777240" y="1874520"/>
            <a:ext cx="5577840" cy="4069080"/>
          </a:xfrm>
          <a:prstGeom prst="rect">
            <a:avLst/>
          </a:prstGeom>
          <a:noFill/>
          <a:ln/>
        </p:spPr>
        <p:txBody>
          <a:bodyPr wrap="square" lIns="0" tIns="0" rIns="0" bIns="0" rtlCol="0" anchor="t"/>
          <a:lstStyle/>
          <a:p>
            <a:pPr indent="0" marL="0">
              <a:buNone/>
            </a:pPr>
            <a:r>
              <a:rPr lang="en-US" sz="1200" dirty="0">
                <a:solidFill>
                  <a:srgbClr val="E6EDF7"/>
                </a:solidFill>
                <a:latin typeface="Courier New" pitchFamily="34" charset="0"/>
                <a:ea typeface="Courier New" pitchFamily="34" charset="-122"/>
                <a:cs typeface="Courier New" pitchFamily="34" charset="-120"/>
              </a:rPr>
              <a:t>zsc = pipeline("zero-shot-classification",</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model="facebook/bart-large-mnli")</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OPTIONS = {</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"customer_service": "has a problem, fault or</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complaint about a product, order or service</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they already have",</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"sales": "wants to buy, lease, upgrade or get</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a price for something new"}</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TEMPLATE = "The customer {}."</a:t>
            </a:r>
            <a:endParaRPr lang="en-US" sz="1200" dirty="0"/>
          </a:p>
          <a:p>
            <a:pPr indent="0" marL="0">
              <a:buNone/>
            </a:pP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def decide(message, t):          # wrapper</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p_sup, p_sal = scores(message)</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route = "customer_service" if p_sup &gt;= t else "sales"</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assert route in FLAG         # validation</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return {"route": route, "p_support": p_sup,</a:t>
            </a:r>
            <a:endParaRPr lang="en-US" sz="1200" dirty="0"/>
          </a:p>
          <a:p>
            <a:pPr indent="0" marL="0">
              <a:buNone/>
            </a:pPr>
            <a:r>
              <a:rPr lang="en-US" sz="1200" dirty="0">
                <a:solidFill>
                  <a:srgbClr val="E6EDF7"/>
                </a:solidFill>
                <a:latin typeface="Courier New" pitchFamily="34" charset="0"/>
                <a:ea typeface="Courier New" pitchFamily="34" charset="-122"/>
                <a:cs typeface="Courier New" pitchFamily="34" charset="-120"/>
              </a:rPr>
              <a:t>            "p_sales": p_sal}    # any error -&gt; support</a:t>
            </a:r>
            <a:endParaRPr lang="en-US" sz="1200" dirty="0"/>
          </a:p>
        </p:txBody>
      </p:sp>
      <p:sp>
        <p:nvSpPr>
          <p:cNvPr id="8" name="Text 6"/>
          <p:cNvSpPr txBox="1"/>
          <p:nvPr/>
        </p:nvSpPr>
        <p:spPr>
          <a:xfrm>
            <a:off x="6903720" y="1691640"/>
            <a:ext cx="4754880" cy="365760"/>
          </a:xfrm>
          <a:prstGeom prst="rect">
            <a:avLst/>
          </a:prstGeom>
          <a:noFill/>
          <a:ln/>
        </p:spPr>
        <p:txBody>
          <a:bodyPr wrap="square" lIns="0" tIns="0" rIns="0" bIns="0" rtlCol="0" anchor="t"/>
          <a:lstStyle/>
          <a:p>
            <a:pPr indent="0" marL="0">
              <a:buNone/>
            </a:pPr>
            <a:r>
              <a:rPr lang="en-US" sz="1700" b="1" dirty="0">
                <a:solidFill>
                  <a:srgbClr val="14213D"/>
                </a:solidFill>
              </a:rPr>
              <a:t>How it decides</a:t>
            </a:r>
            <a:endParaRPr lang="en-US" sz="1700" dirty="0"/>
          </a:p>
        </p:txBody>
      </p:sp>
      <p:sp>
        <p:nvSpPr>
          <p:cNvPr id="9" name="Text 7"/>
          <p:cNvSpPr txBox="1"/>
          <p:nvPr/>
        </p:nvSpPr>
        <p:spPr>
          <a:xfrm>
            <a:off x="6903720" y="2103120"/>
            <a:ext cx="4754880" cy="1005840"/>
          </a:xfrm>
          <a:prstGeom prst="rect">
            <a:avLst/>
          </a:prstGeom>
          <a:noFill/>
          <a:ln/>
        </p:spPr>
        <p:txBody>
          <a:bodyPr wrap="square" lIns="0" tIns="0" rIns="0" bIns="0" rtlCol="0" anchor="t"/>
          <a:lstStyle/>
          <a:p>
            <a:pPr indent="0" marL="0">
              <a:buNone/>
            </a:pPr>
            <a:r>
              <a:rPr lang="en-US" sz="1400" dirty="0">
                <a:solidFill>
                  <a:srgbClr val="4A5568"/>
                </a:solidFill>
              </a:rPr>
              <a:t>For each option it scores how strongly the message entails “The customer …”. The routing instructions are the two option texts.</a:t>
            </a:r>
            <a:endParaRPr lang="en-US" sz="1400" dirty="0"/>
          </a:p>
        </p:txBody>
      </p:sp>
      <p:sp>
        <p:nvSpPr>
          <p:cNvPr id="10" name="Text 8"/>
          <p:cNvSpPr txBox="1"/>
          <p:nvPr/>
        </p:nvSpPr>
        <p:spPr>
          <a:xfrm>
            <a:off x="6903720" y="3200400"/>
            <a:ext cx="4754880" cy="365760"/>
          </a:xfrm>
          <a:prstGeom prst="rect">
            <a:avLst/>
          </a:prstGeom>
          <a:noFill/>
          <a:ln/>
        </p:spPr>
        <p:txBody>
          <a:bodyPr wrap="square" lIns="0" tIns="0" rIns="0" bIns="0" rtlCol="0" anchor="t"/>
          <a:lstStyle/>
          <a:p>
            <a:pPr indent="0" marL="0">
              <a:buNone/>
            </a:pPr>
            <a:r>
              <a:rPr lang="en-US" sz="1700" b="1" dirty="0">
                <a:solidFill>
                  <a:srgbClr val="14213D"/>
                </a:solidFill>
              </a:rPr>
              <a:t>Threshold chosen on training data</a:t>
            </a:r>
            <a:endParaRPr lang="en-US" sz="1700" dirty="0"/>
          </a:p>
        </p:txBody>
      </p:sp>
      <p:sp>
        <p:nvSpPr>
          <p:cNvPr id="11" name="Text 9"/>
          <p:cNvSpPr txBox="1"/>
          <p:nvPr/>
        </p:nvSpPr>
        <p:spPr>
          <a:xfrm>
            <a:off x="6903720" y="3611880"/>
            <a:ext cx="4754880" cy="1005840"/>
          </a:xfrm>
          <a:prstGeom prst="rect">
            <a:avLst/>
          </a:prstGeom>
          <a:noFill/>
          <a:ln/>
        </p:spPr>
        <p:txBody>
          <a:bodyPr wrap="square" lIns="0" tIns="0" rIns="0" bIns="0" rtlCol="0" anchor="t"/>
          <a:lstStyle/>
          <a:p>
            <a:pPr indent="0" marL="0">
              <a:buNone/>
            </a:pPr>
            <a:r>
              <a:rPr lang="en-US" sz="1400" dirty="0">
                <a:solidFill>
                  <a:srgbClr val="4A5568"/>
                </a:solidFill>
              </a:rPr>
              <a:t>Business rule “problems first”: support if p_support ≥ t. Best t on the 40 training messages: 0.90 (train accuracy 80%).</a:t>
            </a:r>
            <a:endParaRPr lang="en-US" sz="1400" dirty="0"/>
          </a:p>
        </p:txBody>
      </p:sp>
      <p:sp>
        <p:nvSpPr>
          <p:cNvPr id="12" name="Text 10"/>
          <p:cNvSpPr txBox="1"/>
          <p:nvPr/>
        </p:nvSpPr>
        <p:spPr>
          <a:xfrm>
            <a:off x="6903720" y="4709160"/>
            <a:ext cx="4754880" cy="365760"/>
          </a:xfrm>
          <a:prstGeom prst="rect">
            <a:avLst/>
          </a:prstGeom>
          <a:noFill/>
          <a:ln/>
        </p:spPr>
        <p:txBody>
          <a:bodyPr wrap="square" lIns="0" tIns="0" rIns="0" bIns="0" rtlCol="0" anchor="t"/>
          <a:lstStyle/>
          <a:p>
            <a:pPr indent="0" marL="0">
              <a:buNone/>
            </a:pPr>
            <a:r>
              <a:rPr lang="en-US" sz="1700" b="1" dirty="0">
                <a:solidFill>
                  <a:srgbClr val="14213D"/>
                </a:solidFill>
              </a:rPr>
              <a:t>Licence and setup</a:t>
            </a:r>
            <a:endParaRPr lang="en-US" sz="1700" dirty="0"/>
          </a:p>
        </p:txBody>
      </p:sp>
      <p:sp>
        <p:nvSpPr>
          <p:cNvPr id="13" name="Text 11"/>
          <p:cNvSpPr txBox="1"/>
          <p:nvPr/>
        </p:nvSpPr>
        <p:spPr>
          <a:xfrm>
            <a:off x="6903720" y="5120640"/>
            <a:ext cx="4754880" cy="1005840"/>
          </a:xfrm>
          <a:prstGeom prst="rect">
            <a:avLst/>
          </a:prstGeom>
          <a:noFill/>
          <a:ln/>
        </p:spPr>
        <p:txBody>
          <a:bodyPr wrap="square" lIns="0" tIns="0" rIns="0" bIns="0" rtlCol="0" anchor="t"/>
          <a:lstStyle/>
          <a:p>
            <a:pPr indent="0" marL="0">
              <a:buNone/>
            </a:pPr>
            <a:r>
              <a:rPr lang="en-US" sz="1400" dirty="0">
                <a:solidFill>
                  <a:srgbClr val="4A5568"/>
                </a:solidFill>
              </a:rPr>
              <a:t>MIT licence, Hugging Face transformers, runs on Google Colab CPU — no key, no cost.</a:t>
            </a:r>
            <a:endParaRPr lang="en-US" sz="1400" dirty="0"/>
          </a:p>
        </p:txBody>
      </p:sp>
      <p:sp>
        <p:nvSpPr>
          <p:cNvPr id="14" name="Text 12"/>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Notebook: KIO_Routing.ipynb, section 3</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B8451B"/>
          </a:solidFill>
          <a:ln w="12700">
            <a:solidFill>
              <a:srgbClr val="B8451B"/>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MOAAZ</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B8451B"/>
                </a:solidFill>
                <a:latin typeface="Courier New" pitchFamily="34" charset="0"/>
                <a:ea typeface="Courier New" pitchFamily="34" charset="-122"/>
                <a:cs typeface="Courier New" pitchFamily="34" charset="-120"/>
              </a:rPr>
              <a:t>DECISION MODEL · RESULTS</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Perfect on mixed intent, but cautious on sales</a:t>
            </a:r>
            <a:endParaRPr lang="en-US" sz="3200" dirty="0"/>
          </a:p>
        </p:txBody>
      </p:sp>
      <p:sp>
        <p:nvSpPr>
          <p:cNvPr id="6" name="Shape 4"/>
          <p:cNvSpPr/>
          <p:nvPr/>
        </p:nvSpPr>
        <p:spPr>
          <a:xfrm>
            <a:off x="548640" y="1645920"/>
            <a:ext cx="3515258" cy="1234440"/>
          </a:xfrm>
          <a:prstGeom prst="roundRect">
            <a:avLst>
              <a:gd name="adj" fmla="val 7407"/>
            </a:avLst>
          </a:prstGeom>
          <a:solidFill>
            <a:srgbClr val="FFFFFF"/>
          </a:solidFill>
          <a:ln w="12700">
            <a:solidFill>
              <a:srgbClr val="D5D8DE"/>
            </a:solidFill>
            <a:prstDash val="solid"/>
          </a:ln>
        </p:spPr>
      </p:sp>
      <p:sp>
        <p:nvSpPr>
          <p:cNvPr id="7" name="Text 5"/>
          <p:cNvSpPr txBox="1"/>
          <p:nvPr/>
        </p:nvSpPr>
        <p:spPr>
          <a:xfrm>
            <a:off x="777240" y="1783080"/>
            <a:ext cx="3058058" cy="640080"/>
          </a:xfrm>
          <a:prstGeom prst="rect">
            <a:avLst/>
          </a:prstGeom>
          <a:noFill/>
          <a:ln/>
        </p:spPr>
        <p:txBody>
          <a:bodyPr wrap="square" lIns="0" tIns="0" rIns="0" bIns="0" rtlCol="0" anchor="t"/>
          <a:lstStyle/>
          <a:p>
            <a:pPr indent="0" marL="0">
              <a:buNone/>
            </a:pPr>
            <a:r>
              <a:rPr lang="en-US" sz="3200" b="1" dirty="0">
                <a:solidFill>
                  <a:srgbClr val="14213D"/>
                </a:solidFill>
              </a:rPr>
              <a:t>16 / 20</a:t>
            </a:r>
            <a:endParaRPr lang="en-US" sz="3200" dirty="0"/>
          </a:p>
        </p:txBody>
      </p:sp>
      <p:sp>
        <p:nvSpPr>
          <p:cNvPr id="8" name="Text 6"/>
          <p:cNvSpPr txBox="1"/>
          <p:nvPr/>
        </p:nvSpPr>
        <p:spPr>
          <a:xfrm>
            <a:off x="777240" y="2423160"/>
            <a:ext cx="3058058" cy="365760"/>
          </a:xfrm>
          <a:prstGeom prst="rect">
            <a:avLst/>
          </a:prstGeom>
          <a:noFill/>
          <a:ln/>
        </p:spPr>
        <p:txBody>
          <a:bodyPr wrap="square" lIns="0" tIns="0" rIns="0" bIns="0" rtlCol="0" anchor="t"/>
          <a:lstStyle/>
          <a:p>
            <a:pPr indent="0" marL="0">
              <a:buNone/>
            </a:pPr>
            <a:r>
              <a:rPr lang="en-US" sz="1300" dirty="0">
                <a:solidFill>
                  <a:srgbClr val="4A5568"/>
                </a:solidFill>
              </a:rPr>
              <a:t>test set (80%)</a:t>
            </a:r>
            <a:endParaRPr lang="en-US" sz="1300" dirty="0"/>
          </a:p>
        </p:txBody>
      </p:sp>
      <p:sp>
        <p:nvSpPr>
          <p:cNvPr id="9" name="Shape 7"/>
          <p:cNvSpPr/>
          <p:nvPr/>
        </p:nvSpPr>
        <p:spPr>
          <a:xfrm>
            <a:off x="4338218" y="1645920"/>
            <a:ext cx="3515258" cy="1234440"/>
          </a:xfrm>
          <a:prstGeom prst="roundRect">
            <a:avLst>
              <a:gd name="adj" fmla="val 7407"/>
            </a:avLst>
          </a:prstGeom>
          <a:solidFill>
            <a:srgbClr val="FFFFFF"/>
          </a:solidFill>
          <a:ln w="12700">
            <a:solidFill>
              <a:srgbClr val="D5D8DE"/>
            </a:solidFill>
            <a:prstDash val="solid"/>
          </a:ln>
        </p:spPr>
      </p:sp>
      <p:sp>
        <p:nvSpPr>
          <p:cNvPr id="10" name="Text 8"/>
          <p:cNvSpPr txBox="1"/>
          <p:nvPr/>
        </p:nvSpPr>
        <p:spPr>
          <a:xfrm>
            <a:off x="4566818" y="1783080"/>
            <a:ext cx="3058058" cy="640080"/>
          </a:xfrm>
          <a:prstGeom prst="rect">
            <a:avLst/>
          </a:prstGeom>
          <a:noFill/>
          <a:ln/>
        </p:spPr>
        <p:txBody>
          <a:bodyPr wrap="square" lIns="0" tIns="0" rIns="0" bIns="0" rtlCol="0" anchor="t"/>
          <a:lstStyle/>
          <a:p>
            <a:pPr indent="0" marL="0">
              <a:buNone/>
            </a:pPr>
            <a:r>
              <a:rPr lang="en-US" sz="3200" b="1" dirty="0">
                <a:solidFill>
                  <a:srgbClr val="1B8A5A"/>
                </a:solidFill>
              </a:rPr>
              <a:t>4 / 4</a:t>
            </a:r>
            <a:endParaRPr lang="en-US" sz="3200" dirty="0"/>
          </a:p>
        </p:txBody>
      </p:sp>
      <p:sp>
        <p:nvSpPr>
          <p:cNvPr id="11" name="Text 9"/>
          <p:cNvSpPr txBox="1"/>
          <p:nvPr/>
        </p:nvSpPr>
        <p:spPr>
          <a:xfrm>
            <a:off x="4566818" y="2423160"/>
            <a:ext cx="3058058" cy="365760"/>
          </a:xfrm>
          <a:prstGeom prst="rect">
            <a:avLst/>
          </a:prstGeom>
          <a:noFill/>
          <a:ln/>
        </p:spPr>
        <p:txBody>
          <a:bodyPr wrap="square" lIns="0" tIns="0" rIns="0" bIns="0" rtlCol="0" anchor="t"/>
          <a:lstStyle/>
          <a:p>
            <a:pPr indent="0" marL="0">
              <a:buNone/>
            </a:pPr>
            <a:r>
              <a:rPr lang="en-US" sz="1300" dirty="0">
                <a:solidFill>
                  <a:srgbClr val="4A5568"/>
                </a:solidFill>
              </a:rPr>
              <a:t>mixed-intent messages</a:t>
            </a:r>
            <a:endParaRPr lang="en-US" sz="1300" dirty="0"/>
          </a:p>
        </p:txBody>
      </p:sp>
      <p:sp>
        <p:nvSpPr>
          <p:cNvPr id="12" name="Shape 10"/>
          <p:cNvSpPr/>
          <p:nvPr/>
        </p:nvSpPr>
        <p:spPr>
          <a:xfrm>
            <a:off x="8127797" y="1645920"/>
            <a:ext cx="3515258" cy="1234440"/>
          </a:xfrm>
          <a:prstGeom prst="roundRect">
            <a:avLst>
              <a:gd name="adj" fmla="val 7407"/>
            </a:avLst>
          </a:prstGeom>
          <a:solidFill>
            <a:srgbClr val="FFFFFF"/>
          </a:solidFill>
          <a:ln w="12700">
            <a:solidFill>
              <a:srgbClr val="D5D8DE"/>
            </a:solidFill>
            <a:prstDash val="solid"/>
          </a:ln>
        </p:spPr>
      </p:sp>
      <p:sp>
        <p:nvSpPr>
          <p:cNvPr id="13" name="Text 11"/>
          <p:cNvSpPr txBox="1"/>
          <p:nvPr/>
        </p:nvSpPr>
        <p:spPr>
          <a:xfrm>
            <a:off x="8356397" y="1783080"/>
            <a:ext cx="3058058" cy="640080"/>
          </a:xfrm>
          <a:prstGeom prst="rect">
            <a:avLst/>
          </a:prstGeom>
          <a:noFill/>
          <a:ln/>
        </p:spPr>
        <p:txBody>
          <a:bodyPr wrap="square" lIns="0" tIns="0" rIns="0" bIns="0" rtlCol="0" anchor="t"/>
          <a:lstStyle/>
          <a:p>
            <a:pPr indent="0" marL="0">
              <a:buNone/>
            </a:pPr>
            <a:r>
              <a:rPr lang="en-US" sz="3200" b="1" dirty="0">
                <a:solidFill>
                  <a:srgbClr val="14213D"/>
                </a:solidFill>
              </a:rPr>
              <a:t>5 / 8</a:t>
            </a:r>
            <a:endParaRPr lang="en-US" sz="3200" dirty="0"/>
          </a:p>
        </p:txBody>
      </p:sp>
      <p:sp>
        <p:nvSpPr>
          <p:cNvPr id="14" name="Text 12"/>
          <p:cNvSpPr txBox="1"/>
          <p:nvPr/>
        </p:nvSpPr>
        <p:spPr>
          <a:xfrm>
            <a:off x="8356397" y="2423160"/>
            <a:ext cx="3058058" cy="365760"/>
          </a:xfrm>
          <a:prstGeom prst="rect">
            <a:avLst/>
          </a:prstGeom>
          <a:noFill/>
          <a:ln/>
        </p:spPr>
        <p:txBody>
          <a:bodyPr wrap="square" lIns="0" tIns="0" rIns="0" bIns="0" rtlCol="0" anchor="t"/>
          <a:lstStyle/>
          <a:p>
            <a:pPr indent="0" marL="0">
              <a:buNone/>
            </a:pPr>
            <a:r>
              <a:rPr lang="en-US" sz="1300" dirty="0">
                <a:solidFill>
                  <a:srgbClr val="4A5568"/>
                </a:solidFill>
              </a:rPr>
              <a:t>new hard messages</a:t>
            </a:r>
            <a:endParaRPr lang="en-US" sz="1300" dirty="0"/>
          </a:p>
        </p:txBody>
      </p:sp>
      <p:sp>
        <p:nvSpPr>
          <p:cNvPr id="15" name="Text 13"/>
          <p:cNvSpPr txBox="1"/>
          <p:nvPr/>
        </p:nvSpPr>
        <p:spPr>
          <a:xfrm>
            <a:off x="548640" y="3154680"/>
            <a:ext cx="11094415" cy="365760"/>
          </a:xfrm>
          <a:prstGeom prst="rect">
            <a:avLst/>
          </a:prstGeom>
          <a:noFill/>
          <a:ln/>
        </p:spPr>
        <p:txBody>
          <a:bodyPr wrap="square" lIns="0" tIns="0" rIns="0" bIns="0" rtlCol="0" anchor="t"/>
          <a:lstStyle/>
          <a:p>
            <a:pPr indent="0" marL="0">
              <a:buNone/>
            </a:pPr>
            <a:r>
              <a:rPr lang="en-US" sz="1500" b="1" dirty="0">
                <a:solidFill>
                  <a:srgbClr val="14213D"/>
                </a:solidFill>
              </a:rPr>
              <a:t>Test-set errors — all four are sales messages sent to support:</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91672" cy="914400"/>
        </p:xfrm>
        <a:graphic>
          <a:graphicData uri="http://schemas.openxmlformats.org/drawingml/2006/table">
            <a:tbl>
              <a:tblPr/>
              <a:tblGrid>
                <a:gridCol w="8046720"/>
                <a:gridCol w="1463040"/>
                <a:gridCol w="1581912"/>
              </a:tblGrid>
              <a:tr h="0">
                <a:tc>
                  <a:txBody>
                    <a:bodyPr/>
                    <a:lstStyle/>
                    <a:p>
                      <a:pPr indent="0" marL="0">
                        <a:buNone/>
                      </a:pPr>
                      <a:r>
                        <a:rPr lang="en-US" sz="1400" b="1" dirty="0">
                          <a:solidFill>
                            <a:srgbClr val="14213D"/>
                          </a:solidFill>
                        </a:rPr>
                        <a:t>Message (true label: sales)</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400" b="1" dirty="0">
                          <a:solidFill>
                            <a:srgbClr val="14213D"/>
                          </a:solidFill>
                        </a:rPr>
                        <a:t>p_support</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400" b="1" dirty="0">
                          <a:solidFill>
                            <a:srgbClr val="14213D"/>
                          </a:solidFill>
                        </a:rPr>
                        <a:t>Route</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r>
              <a:tr h="0">
                <a:tc>
                  <a:txBody>
                    <a:bodyPr/>
                    <a:lstStyle/>
                    <a:p>
                      <a:pPr indent="0" marL="0">
                        <a:buNone/>
                      </a:pPr>
                      <a:r>
                        <a:rPr lang="en-US" sz="1400" dirty="0">
                          <a:solidFill>
                            <a:srgbClr val="14213D"/>
                          </a:solidFill>
                        </a:rPr>
                        <a:t>What packages do you offer for predictive maintenance on 20 motors?</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0.98</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support ✗</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rPr>
                        <a:t>I’d like to upgrade our maintenance contract to the premium tier.</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400" dirty="0">
                          <a:solidFill>
                            <a:srgbClr val="14213D"/>
                          </a:solidFill>
                        </a:rPr>
                        <a:t>0.95</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400" dirty="0">
                          <a:solidFill>
                            <a:srgbClr val="14213D"/>
                          </a:solidFill>
                        </a:rPr>
                        <a:t>support ✗</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400" dirty="0">
                          <a:solidFill>
                            <a:srgbClr val="14213D"/>
                          </a:solidFill>
                        </a:rPr>
                        <a:t>Can we move from the basic to the premium service package starting next month?</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0.94</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support ✗</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4213D"/>
                          </a:solidFill>
                        </a:rPr>
                        <a:t>We need your latest chiller brochure with prices.</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400" dirty="0">
                          <a:solidFill>
                            <a:srgbClr val="14213D"/>
                          </a:solidFill>
                        </a:rPr>
                        <a:t>0.98</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400" dirty="0">
                          <a:solidFill>
                            <a:srgbClr val="14213D"/>
                          </a:solidFill>
                        </a:rPr>
                        <a:t>support ✗</a:t>
                      </a:r>
                      <a:endParaRPr lang="en-US" sz="14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bl>
          </a:graphicData>
        </a:graphic>
      </p:graphicFrame>
      <p:sp>
        <p:nvSpPr>
          <p:cNvPr id="17" name="Text 14"/>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Confusion on test: support 10/10 correct · sales 6/10 correct (4 sent to support)</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B8451B"/>
          </a:solidFill>
          <a:ln w="12700">
            <a:solidFill>
              <a:srgbClr val="B8451B"/>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MOAAZ</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B8451B"/>
                </a:solidFill>
                <a:latin typeface="Courier New" pitchFamily="34" charset="0"/>
                <a:ea typeface="Courier New" pitchFamily="34" charset="-122"/>
                <a:cs typeface="Courier New" pitchFamily="34" charset="-120"/>
              </a:rPr>
              <a:t>DECISION MODEL · WHAT IT SHOWS</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It reads meaning, but its scores need care</a:t>
            </a:r>
            <a:endParaRPr lang="en-US" sz="3200" dirty="0"/>
          </a:p>
        </p:txBody>
      </p:sp>
      <p:sp>
        <p:nvSpPr>
          <p:cNvPr id="6" name="Shape 4"/>
          <p:cNvSpPr/>
          <p:nvPr/>
        </p:nvSpPr>
        <p:spPr>
          <a:xfrm>
            <a:off x="548640" y="1691640"/>
            <a:ext cx="5410048" cy="3566160"/>
          </a:xfrm>
          <a:prstGeom prst="roundRect">
            <a:avLst>
              <a:gd name="adj" fmla="val 2564"/>
            </a:avLst>
          </a:prstGeom>
          <a:solidFill>
            <a:srgbClr val="FFFFFF"/>
          </a:solidFill>
          <a:ln w="12700">
            <a:solidFill>
              <a:srgbClr val="D5D8DE"/>
            </a:solidFill>
            <a:prstDash val="solid"/>
          </a:ln>
        </p:spPr>
      </p:sp>
      <p:sp>
        <p:nvSpPr>
          <p:cNvPr id="7" name="Text 5"/>
          <p:cNvSpPr txBox="1"/>
          <p:nvPr/>
        </p:nvSpPr>
        <p:spPr>
          <a:xfrm>
            <a:off x="868680" y="1874520"/>
            <a:ext cx="4769968" cy="365760"/>
          </a:xfrm>
          <a:prstGeom prst="rect">
            <a:avLst/>
          </a:prstGeom>
          <a:noFill/>
          <a:ln/>
        </p:spPr>
        <p:txBody>
          <a:bodyPr wrap="square" lIns="0" tIns="0" rIns="0" bIns="0" rtlCol="0" anchor="t"/>
          <a:lstStyle/>
          <a:p>
            <a:pPr indent="0" marL="0">
              <a:buNone/>
            </a:pPr>
            <a:r>
              <a:rPr lang="en-US" sz="1900" b="1" dirty="0">
                <a:solidFill>
                  <a:srgbClr val="1B8A5A"/>
                </a:solidFill>
              </a:rPr>
              <a:t>Strengths</a:t>
            </a:r>
            <a:endParaRPr lang="en-US" sz="1900" dirty="0"/>
          </a:p>
        </p:txBody>
      </p:sp>
      <p:sp>
        <p:nvSpPr>
          <p:cNvPr id="8" name="Text 6"/>
          <p:cNvSpPr txBox="1"/>
          <p:nvPr/>
        </p:nvSpPr>
        <p:spPr>
          <a:xfrm>
            <a:off x="868680" y="2377440"/>
            <a:ext cx="4769968"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8"/>
                </a:solidFill>
              </a:rPr>
              <a:t>Gets the “problems first” rule: 4/4 mixed intent</a:t>
            </a:r>
            <a:endParaRPr lang="en-US" sz="1500" dirty="0"/>
          </a:p>
          <a:p>
            <a:pPr marL="342900" indent="-342900">
              <a:spcAft>
                <a:spcPts val="1000"/>
              </a:spcAft>
              <a:buSzPct val="100000"/>
              <a:buChar char="•"/>
            </a:pPr>
            <a:r>
              <a:rPr lang="en-US" sz="1500" dirty="0">
                <a:solidFill>
                  <a:srgbClr val="4A5568"/>
                </a:solidFill>
              </a:rPr>
              <a:t>Errors lean to support — the safer mistake for KIO</a:t>
            </a:r>
            <a:endParaRPr lang="en-US" sz="1500" dirty="0"/>
          </a:p>
          <a:p>
            <a:pPr marL="342900" indent="-342900">
              <a:spcAft>
                <a:spcPts val="1000"/>
              </a:spcAft>
              <a:buSzPct val="100000"/>
              <a:buChar char="•"/>
            </a:pPr>
            <a:r>
              <a:rPr lang="en-US" sz="1500" dirty="0">
                <a:solidFill>
                  <a:srgbClr val="4A5568"/>
                </a:solidFill>
              </a:rPr>
              <a:t>No training data needed; rules are plain text</a:t>
            </a:r>
            <a:endParaRPr lang="en-US" sz="1500" dirty="0"/>
          </a:p>
          <a:p>
            <a:pPr marL="342900" indent="-342900">
              <a:spcAft>
                <a:spcPts val="1000"/>
              </a:spcAft>
              <a:buSzPct val="100000"/>
              <a:buChar char="•"/>
            </a:pPr>
            <a:r>
              <a:rPr lang="en-US" sz="1500" dirty="0">
                <a:solidFill>
                  <a:srgbClr val="4A5568"/>
                </a:solidFill>
              </a:rPr>
              <a:t>Free and open-source (MIT)</a:t>
            </a:r>
            <a:endParaRPr lang="en-US" sz="1500" dirty="0"/>
          </a:p>
        </p:txBody>
      </p:sp>
      <p:sp>
        <p:nvSpPr>
          <p:cNvPr id="9" name="Shape 7"/>
          <p:cNvSpPr/>
          <p:nvPr/>
        </p:nvSpPr>
        <p:spPr>
          <a:xfrm>
            <a:off x="6233008" y="1691640"/>
            <a:ext cx="5410048" cy="3566160"/>
          </a:xfrm>
          <a:prstGeom prst="roundRect">
            <a:avLst>
              <a:gd name="adj" fmla="val 2564"/>
            </a:avLst>
          </a:prstGeom>
          <a:solidFill>
            <a:srgbClr val="FFFFFF"/>
          </a:solidFill>
          <a:ln w="12700">
            <a:solidFill>
              <a:srgbClr val="D5D8DE"/>
            </a:solidFill>
            <a:prstDash val="solid"/>
          </a:ln>
        </p:spPr>
      </p:sp>
      <p:sp>
        <p:nvSpPr>
          <p:cNvPr id="10" name="Text 8"/>
          <p:cNvSpPr txBox="1"/>
          <p:nvPr/>
        </p:nvSpPr>
        <p:spPr>
          <a:xfrm>
            <a:off x="6553048" y="1874520"/>
            <a:ext cx="4769968" cy="365760"/>
          </a:xfrm>
          <a:prstGeom prst="rect">
            <a:avLst/>
          </a:prstGeom>
          <a:noFill/>
          <a:ln/>
        </p:spPr>
        <p:txBody>
          <a:bodyPr wrap="square" lIns="0" tIns="0" rIns="0" bIns="0" rtlCol="0" anchor="t"/>
          <a:lstStyle/>
          <a:p>
            <a:pPr indent="0" marL="0">
              <a:buNone/>
            </a:pPr>
            <a:r>
              <a:rPr lang="en-US" sz="1900" b="1" dirty="0">
                <a:solidFill>
                  <a:srgbClr val="B8451B"/>
                </a:solidFill>
              </a:rPr>
              <a:t>Weaknesses</a:t>
            </a:r>
            <a:endParaRPr lang="en-US" sz="1900" dirty="0"/>
          </a:p>
        </p:txBody>
      </p:sp>
      <p:sp>
        <p:nvSpPr>
          <p:cNvPr id="11" name="Text 9"/>
          <p:cNvSpPr txBox="1"/>
          <p:nvPr/>
        </p:nvSpPr>
        <p:spPr>
          <a:xfrm>
            <a:off x="6553048" y="2377440"/>
            <a:ext cx="4769968"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8"/>
                </a:solidFill>
              </a:rPr>
              <a:t>p_support is high for almost every message, so the threshold had to be 0.90</a:t>
            </a:r>
            <a:endParaRPr lang="en-US" sz="1500" dirty="0"/>
          </a:p>
          <a:p>
            <a:pPr marL="342900" indent="-342900">
              <a:spcAft>
                <a:spcPts val="1000"/>
              </a:spcAft>
              <a:buSzPct val="100000"/>
              <a:buChar char="•"/>
            </a:pPr>
            <a:r>
              <a:rPr lang="en-US" sz="1500" dirty="0">
                <a:solidFill>
                  <a:srgbClr val="4A5568"/>
                </a:solidFill>
              </a:rPr>
              <a:t>Words like “maintenance” or “service” pull sales messages to support</a:t>
            </a:r>
            <a:endParaRPr lang="en-US" sz="1500" dirty="0"/>
          </a:p>
          <a:p>
            <a:pPr marL="342900" indent="-342900">
              <a:spcAft>
                <a:spcPts val="1000"/>
              </a:spcAft>
              <a:buSzPct val="100000"/>
              <a:buChar char="•"/>
            </a:pPr>
            <a:r>
              <a:rPr lang="en-US" sz="1500" dirty="0">
                <a:solidFill>
                  <a:srgbClr val="4A5568"/>
                </a:solidFill>
              </a:rPr>
              <a:t>Slower: ~1 s per message on CPU vs. milliseconds</a:t>
            </a:r>
            <a:endParaRPr lang="en-US" sz="1500" dirty="0"/>
          </a:p>
          <a:p>
            <a:pPr marL="342900" indent="-342900">
              <a:spcAft>
                <a:spcPts val="1000"/>
              </a:spcAft>
              <a:buSzPct val="100000"/>
              <a:buChar char="•"/>
            </a:pPr>
            <a:r>
              <a:rPr lang="en-US" sz="1500" dirty="0">
                <a:solidFill>
                  <a:srgbClr val="4A5568"/>
                </a:solidFill>
              </a:rPr>
              <a:t>Only 28 scored messages — one error moves accuracy 4–12 points</a:t>
            </a:r>
            <a:endParaRPr lang="en-US" sz="1500" dirty="0"/>
          </a:p>
        </p:txBody>
      </p:sp>
      <p:sp>
        <p:nvSpPr>
          <p:cNvPr id="12" name="Text 10"/>
          <p:cNvSpPr txBox="1"/>
          <p:nvPr/>
        </p:nvSpPr>
        <p:spPr>
          <a:xfrm>
            <a:off x="548640" y="5486400"/>
            <a:ext cx="11094415" cy="548640"/>
          </a:xfrm>
          <a:prstGeom prst="rect">
            <a:avLst/>
          </a:prstGeom>
          <a:noFill/>
          <a:ln/>
        </p:spPr>
        <p:txBody>
          <a:bodyPr wrap="square" lIns="0" tIns="0" rIns="0" bIns="0" rtlCol="0" anchor="t"/>
          <a:lstStyle/>
          <a:p>
            <a:pPr indent="0" marL="0">
              <a:buNone/>
            </a:pPr>
            <a:r>
              <a:rPr lang="en-US" sz="1500" dirty="0">
                <a:solidFill>
                  <a:srgbClr val="4A5568"/>
                </a:solidFill>
              </a:rPr>
              <a:t>Fix we would try next: rewrite the sales option to mention service contracts and upgrades, then re-tune t on training data.</a:t>
            </a:r>
            <a:endParaRPr lang="en-US" sz="1500" dirty="0"/>
          </a:p>
        </p:txBody>
      </p:sp>
      <p:sp>
        <p:nvSpPr>
          <p:cNvPr id="13" name="Text 11"/>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Hand over to Omar</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1B8A5A"/>
          </a:solidFill>
          <a:ln w="12700">
            <a:solidFill>
              <a:srgbClr val="1B8A5A"/>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OMAR</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1B8A5A"/>
                </a:solidFill>
                <a:latin typeface="Courier New" pitchFamily="34" charset="0"/>
                <a:ea typeface="Courier New" pitchFamily="34" charset="-122"/>
                <a:cs typeface="Courier New" pitchFamily="34" charset="-120"/>
              </a:rPr>
              <a:t>TRADITIONAL ML · MODEL</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Two numbers per message, a curved boundary</a:t>
            </a:r>
            <a:endParaRPr lang="en-US" sz="3200" dirty="0"/>
          </a:p>
        </p:txBody>
      </p:sp>
      <p:sp>
        <p:nvSpPr>
          <p:cNvPr id="6" name="Shape 4"/>
          <p:cNvSpPr/>
          <p:nvPr/>
        </p:nvSpPr>
        <p:spPr>
          <a:xfrm>
            <a:off x="548640" y="1737360"/>
            <a:ext cx="3515258" cy="3200400"/>
          </a:xfrm>
          <a:prstGeom prst="roundRect">
            <a:avLst>
              <a:gd name="adj" fmla="val 2857"/>
            </a:avLst>
          </a:prstGeom>
          <a:solidFill>
            <a:srgbClr val="FFFFFF"/>
          </a:solidFill>
          <a:ln w="12700">
            <a:solidFill>
              <a:srgbClr val="D5D8DE"/>
            </a:solidFill>
            <a:prstDash val="solid"/>
          </a:ln>
        </p:spPr>
      </p:sp>
      <p:sp>
        <p:nvSpPr>
          <p:cNvPr id="7" name="Text 5"/>
          <p:cNvSpPr txBox="1"/>
          <p:nvPr/>
        </p:nvSpPr>
        <p:spPr>
          <a:xfrm>
            <a:off x="822960" y="1920240"/>
            <a:ext cx="2966618" cy="274320"/>
          </a:xfrm>
          <a:prstGeom prst="rect">
            <a:avLst/>
          </a:prstGeom>
          <a:noFill/>
          <a:ln/>
        </p:spPr>
        <p:txBody>
          <a:bodyPr wrap="square" lIns="0" tIns="0" rIns="0" bIns="0" rtlCol="0" anchor="t"/>
          <a:lstStyle/>
          <a:p>
            <a:pPr indent="0" marL="0">
              <a:buNone/>
            </a:pPr>
            <a:r>
              <a:rPr lang="en-US" sz="1200" b="1" dirty="0">
                <a:solidFill>
                  <a:srgbClr val="1B8A5A"/>
                </a:solidFill>
                <a:latin typeface="Courier New" pitchFamily="34" charset="0"/>
                <a:ea typeface="Courier New" pitchFamily="34" charset="-122"/>
                <a:cs typeface="Courier New" pitchFamily="34" charset="-120"/>
              </a:rPr>
              <a:t>1 · features</a:t>
            </a:r>
            <a:endParaRPr lang="en-US" sz="1200" dirty="0"/>
          </a:p>
        </p:txBody>
      </p:sp>
      <p:sp>
        <p:nvSpPr>
          <p:cNvPr id="8" name="Text 6"/>
          <p:cNvSpPr txBox="1"/>
          <p:nvPr/>
        </p:nvSpPr>
        <p:spPr>
          <a:xfrm>
            <a:off x="822960" y="2286000"/>
            <a:ext cx="2966618" cy="640080"/>
          </a:xfrm>
          <a:prstGeom prst="rect">
            <a:avLst/>
          </a:prstGeom>
          <a:noFill/>
          <a:ln/>
        </p:spPr>
        <p:txBody>
          <a:bodyPr wrap="square" lIns="0" tIns="0" rIns="0" bIns="0" rtlCol="0" anchor="t"/>
          <a:lstStyle/>
          <a:p>
            <a:pPr indent="0" marL="0">
              <a:buNone/>
            </a:pPr>
            <a:r>
              <a:rPr lang="en-US" sz="1700" b="1" dirty="0">
                <a:solidFill>
                  <a:srgbClr val="14213D"/>
                </a:solidFill>
              </a:rPr>
              <a:t>support_score, sales_score</a:t>
            </a:r>
            <a:endParaRPr lang="en-US" sz="1700" dirty="0"/>
          </a:p>
        </p:txBody>
      </p:sp>
      <p:sp>
        <p:nvSpPr>
          <p:cNvPr id="9" name="Text 7"/>
          <p:cNvSpPr txBox="1"/>
          <p:nvPr/>
        </p:nvSpPr>
        <p:spPr>
          <a:xfrm>
            <a:off x="822960" y="2971800"/>
            <a:ext cx="2966618" cy="1828800"/>
          </a:xfrm>
          <a:prstGeom prst="rect">
            <a:avLst/>
          </a:prstGeom>
          <a:noFill/>
          <a:ln/>
        </p:spPr>
        <p:txBody>
          <a:bodyPr wrap="square" lIns="0" tIns="0" rIns="0" bIns="0" rtlCol="0" anchor="t"/>
          <a:lstStyle/>
          <a:p>
            <a:pPr indent="0" marL="0">
              <a:buNone/>
            </a:pPr>
            <a:r>
              <a:rPr lang="en-US" sz="1400" dirty="0">
                <a:solidFill>
                  <a:srgbClr val="4A5568"/>
                </a:solidFill>
              </a:rPr>
              <a:t>Count of problem cues (error, leak, late, warranty…) and purchase cues (quote, price, buy, demo…). A cue right after no / not / don’t counts −1.</a:t>
            </a:r>
            <a:endParaRPr lang="en-US" sz="1400" dirty="0"/>
          </a:p>
        </p:txBody>
      </p:sp>
      <p:sp>
        <p:nvSpPr>
          <p:cNvPr id="10" name="Shape 8"/>
          <p:cNvSpPr/>
          <p:nvPr/>
        </p:nvSpPr>
        <p:spPr>
          <a:xfrm>
            <a:off x="4338218" y="1737360"/>
            <a:ext cx="3515258" cy="3200400"/>
          </a:xfrm>
          <a:prstGeom prst="roundRect">
            <a:avLst>
              <a:gd name="adj" fmla="val 2857"/>
            </a:avLst>
          </a:prstGeom>
          <a:solidFill>
            <a:srgbClr val="FFFFFF"/>
          </a:solidFill>
          <a:ln w="12700">
            <a:solidFill>
              <a:srgbClr val="D5D8DE"/>
            </a:solidFill>
            <a:prstDash val="solid"/>
          </a:ln>
        </p:spPr>
      </p:sp>
      <p:sp>
        <p:nvSpPr>
          <p:cNvPr id="11" name="Text 9"/>
          <p:cNvSpPr txBox="1"/>
          <p:nvPr/>
        </p:nvSpPr>
        <p:spPr>
          <a:xfrm>
            <a:off x="4612538" y="1920240"/>
            <a:ext cx="2966618" cy="274320"/>
          </a:xfrm>
          <a:prstGeom prst="rect">
            <a:avLst/>
          </a:prstGeom>
          <a:noFill/>
          <a:ln/>
        </p:spPr>
        <p:txBody>
          <a:bodyPr wrap="square" lIns="0" tIns="0" rIns="0" bIns="0" rtlCol="0" anchor="t"/>
          <a:lstStyle/>
          <a:p>
            <a:pPr indent="0" marL="0">
              <a:buNone/>
            </a:pPr>
            <a:r>
              <a:rPr lang="en-US" sz="1200" b="1" dirty="0">
                <a:solidFill>
                  <a:srgbClr val="1B8A5A"/>
                </a:solidFill>
                <a:latin typeface="Courier New" pitchFamily="34" charset="0"/>
                <a:ea typeface="Courier New" pitchFamily="34" charset="-122"/>
                <a:cs typeface="Courier New" pitchFamily="34" charset="-120"/>
              </a:rPr>
              <a:t>2 · model</a:t>
            </a:r>
            <a:endParaRPr lang="en-US" sz="1200" dirty="0"/>
          </a:p>
        </p:txBody>
      </p:sp>
      <p:sp>
        <p:nvSpPr>
          <p:cNvPr id="12" name="Text 10"/>
          <p:cNvSpPr txBox="1"/>
          <p:nvPr/>
        </p:nvSpPr>
        <p:spPr>
          <a:xfrm>
            <a:off x="4612538" y="2286000"/>
            <a:ext cx="2966618" cy="640080"/>
          </a:xfrm>
          <a:prstGeom prst="rect">
            <a:avLst/>
          </a:prstGeom>
          <a:noFill/>
          <a:ln/>
        </p:spPr>
        <p:txBody>
          <a:bodyPr wrap="square" lIns="0" tIns="0" rIns="0" bIns="0" rtlCol="0" anchor="t"/>
          <a:lstStyle/>
          <a:p>
            <a:pPr indent="0" marL="0">
              <a:buNone/>
            </a:pPr>
            <a:r>
              <a:rPr lang="en-US" sz="1700" b="1" dirty="0">
                <a:solidFill>
                  <a:srgbClr val="14213D"/>
                </a:solidFill>
              </a:rPr>
              <a:t>Logistic regression, degree 2</a:t>
            </a:r>
            <a:endParaRPr lang="en-US" sz="1700" dirty="0"/>
          </a:p>
        </p:txBody>
      </p:sp>
      <p:sp>
        <p:nvSpPr>
          <p:cNvPr id="13" name="Text 11"/>
          <p:cNvSpPr txBox="1"/>
          <p:nvPr/>
        </p:nvSpPr>
        <p:spPr>
          <a:xfrm>
            <a:off x="4612538" y="2971800"/>
            <a:ext cx="2966618" cy="1828800"/>
          </a:xfrm>
          <a:prstGeom prst="rect">
            <a:avLst/>
          </a:prstGeom>
          <a:noFill/>
          <a:ln/>
        </p:spPr>
        <p:txBody>
          <a:bodyPr wrap="square" lIns="0" tIns="0" rIns="0" bIns="0" rtlCol="0" anchor="t"/>
          <a:lstStyle/>
          <a:p>
            <a:pPr indent="0" marL="0">
              <a:buNone/>
            </a:pPr>
            <a:r>
              <a:rPr lang="en-US" sz="1400" dirty="0">
                <a:solidFill>
                  <a:srgbClr val="4A5568"/>
                </a:solidFill>
              </a:rPr>
              <a:t>StandardScaler → PolynomialFeatures(2): x₁, x₂, x₁², x₁x₂, x₂² → LogisticRegression(C = 1). Flag 1 if P(sales) ≥ 0.5.</a:t>
            </a:r>
            <a:endParaRPr lang="en-US" sz="1400" dirty="0"/>
          </a:p>
        </p:txBody>
      </p:sp>
      <p:sp>
        <p:nvSpPr>
          <p:cNvPr id="14" name="Shape 12"/>
          <p:cNvSpPr/>
          <p:nvPr/>
        </p:nvSpPr>
        <p:spPr>
          <a:xfrm>
            <a:off x="8127797" y="1737360"/>
            <a:ext cx="3515258" cy="3200400"/>
          </a:xfrm>
          <a:prstGeom prst="roundRect">
            <a:avLst>
              <a:gd name="adj" fmla="val 2857"/>
            </a:avLst>
          </a:prstGeom>
          <a:solidFill>
            <a:srgbClr val="FFFFFF"/>
          </a:solidFill>
          <a:ln w="12700">
            <a:solidFill>
              <a:srgbClr val="D5D8DE"/>
            </a:solidFill>
            <a:prstDash val="solid"/>
          </a:ln>
        </p:spPr>
      </p:sp>
      <p:sp>
        <p:nvSpPr>
          <p:cNvPr id="15" name="Text 13"/>
          <p:cNvSpPr txBox="1"/>
          <p:nvPr/>
        </p:nvSpPr>
        <p:spPr>
          <a:xfrm>
            <a:off x="8402117" y="1920240"/>
            <a:ext cx="2966618" cy="274320"/>
          </a:xfrm>
          <a:prstGeom prst="rect">
            <a:avLst/>
          </a:prstGeom>
          <a:noFill/>
          <a:ln/>
        </p:spPr>
        <p:txBody>
          <a:bodyPr wrap="square" lIns="0" tIns="0" rIns="0" bIns="0" rtlCol="0" anchor="t"/>
          <a:lstStyle/>
          <a:p>
            <a:pPr indent="0" marL="0">
              <a:buNone/>
            </a:pPr>
            <a:r>
              <a:rPr lang="en-US" sz="1200" b="1" dirty="0">
                <a:solidFill>
                  <a:srgbClr val="1B8A5A"/>
                </a:solidFill>
                <a:latin typeface="Courier New" pitchFamily="34" charset="0"/>
                <a:ea typeface="Courier New" pitchFamily="34" charset="-122"/>
                <a:cs typeface="Courier New" pitchFamily="34" charset="-120"/>
              </a:rPr>
              <a:t>3 · training</a:t>
            </a:r>
            <a:endParaRPr lang="en-US" sz="1200" dirty="0"/>
          </a:p>
        </p:txBody>
      </p:sp>
      <p:sp>
        <p:nvSpPr>
          <p:cNvPr id="16" name="Text 14"/>
          <p:cNvSpPr txBox="1"/>
          <p:nvPr/>
        </p:nvSpPr>
        <p:spPr>
          <a:xfrm>
            <a:off x="8402117" y="2286000"/>
            <a:ext cx="2966618" cy="640080"/>
          </a:xfrm>
          <a:prstGeom prst="rect">
            <a:avLst/>
          </a:prstGeom>
          <a:noFill/>
          <a:ln/>
        </p:spPr>
        <p:txBody>
          <a:bodyPr wrap="square" lIns="0" tIns="0" rIns="0" bIns="0" rtlCol="0" anchor="t"/>
          <a:lstStyle/>
          <a:p>
            <a:pPr indent="0" marL="0">
              <a:buNone/>
            </a:pPr>
            <a:r>
              <a:rPr lang="en-US" sz="1700" b="1" dirty="0">
                <a:solidFill>
                  <a:srgbClr val="14213D"/>
                </a:solidFill>
              </a:rPr>
              <a:t>40 messages, scikit-learn</a:t>
            </a:r>
            <a:endParaRPr lang="en-US" sz="1700" dirty="0"/>
          </a:p>
        </p:txBody>
      </p:sp>
      <p:sp>
        <p:nvSpPr>
          <p:cNvPr id="17" name="Text 15"/>
          <p:cNvSpPr txBox="1"/>
          <p:nvPr/>
        </p:nvSpPr>
        <p:spPr>
          <a:xfrm>
            <a:off x="8402117" y="2971800"/>
            <a:ext cx="2966618" cy="1828800"/>
          </a:xfrm>
          <a:prstGeom prst="rect">
            <a:avLst/>
          </a:prstGeom>
          <a:noFill/>
          <a:ln/>
        </p:spPr>
        <p:txBody>
          <a:bodyPr wrap="square" lIns="0" tIns="0" rIns="0" bIns="0" rtlCol="0" anchor="t"/>
          <a:lstStyle/>
          <a:p>
            <a:pPr indent="0" marL="0">
              <a:buNone/>
            </a:pPr>
            <a:r>
              <a:rPr lang="en-US" sz="1400" dirty="0">
                <a:solidFill>
                  <a:srgbClr val="4A5568"/>
                </a:solidFill>
              </a:rPr>
              <a:t>Train 38/40. Learned weights: x₁ −1.72, x₂ +1.41 — problem cues push to support, purchase cues to sales.</a:t>
            </a:r>
            <a:endParaRPr lang="en-US" sz="1400" dirty="0"/>
          </a:p>
        </p:txBody>
      </p:sp>
      <p:sp>
        <p:nvSpPr>
          <p:cNvPr id="18" name="Text 16"/>
          <p:cNvSpPr txBox="1"/>
          <p:nvPr/>
        </p:nvSpPr>
        <p:spPr>
          <a:xfrm>
            <a:off x="548640" y="5120640"/>
            <a:ext cx="11094415" cy="914400"/>
          </a:xfrm>
          <a:prstGeom prst="rect">
            <a:avLst/>
          </a:prstGeom>
          <a:noFill/>
          <a:ln/>
        </p:spPr>
        <p:txBody>
          <a:bodyPr wrap="square" lIns="0" tIns="0" rIns="0" bIns="0" rtlCol="0" anchor="t"/>
          <a:lstStyle/>
          <a:p>
            <a:pPr indent="0" marL="0">
              <a:buNone/>
            </a:pPr>
            <a:r>
              <a:rPr lang="en-US" sz="1400" dirty="0">
                <a:solidFill>
                  <a:srgbClr val="4A5568"/>
                </a:solidFill>
              </a:rPr>
              <a:t>We first tried learning a weight per word from the 40 messages: 40% on test. Forty examples are too few to learn vocabulary, so we moved to cue counts. An SVM with a degree-2 polynomial kernel on the same features scored 95% on test, 50% on the hard messages.</a:t>
            </a:r>
            <a:endParaRPr lang="en-US" sz="1400" dirty="0"/>
          </a:p>
        </p:txBody>
      </p:sp>
      <p:sp>
        <p:nvSpPr>
          <p:cNvPr id="19" name="Text 17"/>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Notebook: KIO_Routing.ipynb, section 2</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1B8A5A"/>
          </a:solidFill>
          <a:ln w="12700">
            <a:solidFill>
              <a:srgbClr val="1B8A5A"/>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OMAR</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1B8A5A"/>
                </a:solidFill>
                <a:latin typeface="Courier New" pitchFamily="34" charset="0"/>
                <a:ea typeface="Courier New" pitchFamily="34" charset="-122"/>
                <a:cs typeface="Courier New" pitchFamily="34" charset="-120"/>
              </a:rPr>
              <a:t>TRADITIONAL ML · BOUNDARY AND RESULTS</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Sales only when purchase cues outweigh problem cues</a:t>
            </a:r>
            <a:endParaRPr lang="en-US" sz="3200" dirty="0"/>
          </a:p>
        </p:txBody>
      </p:sp>
      <p:pic>
        <p:nvPicPr>
          <p:cNvPr id="6" name="Image 0" descr="Decision boundary of the degree-2 logistic regression over support_score and sales_score; two mixed-intent training messages circled as misrouted.">    </p:cNvPr>
          <p:cNvPicPr>
            <a:picLocks noChangeAspect="1"/>
          </p:cNvPicPr>
          <p:nvPr/>
        </p:nvPicPr>
        <p:blipFill>
          <a:blip r:embed="rId1"/>
          <a:stretch>
            <a:fillRect/>
          </a:stretch>
        </p:blipFill>
        <p:spPr>
          <a:xfrm>
            <a:off x="548640" y="1600200"/>
            <a:ext cx="6035040" cy="4526280"/>
          </a:xfrm>
          <a:prstGeom prst="rect">
            <a:avLst/>
          </a:prstGeom>
        </p:spPr>
      </p:pic>
      <p:sp>
        <p:nvSpPr>
          <p:cNvPr id="7" name="Shape 4"/>
          <p:cNvSpPr/>
          <p:nvPr/>
        </p:nvSpPr>
        <p:spPr>
          <a:xfrm>
            <a:off x="6903720" y="1691640"/>
            <a:ext cx="2286000" cy="1234440"/>
          </a:xfrm>
          <a:prstGeom prst="roundRect">
            <a:avLst>
              <a:gd name="adj" fmla="val 7407"/>
            </a:avLst>
          </a:prstGeom>
          <a:solidFill>
            <a:srgbClr val="FFFFFF"/>
          </a:solidFill>
          <a:ln w="12700">
            <a:solidFill>
              <a:srgbClr val="D5D8DE"/>
            </a:solidFill>
            <a:prstDash val="solid"/>
          </a:ln>
        </p:spPr>
      </p:sp>
      <p:sp>
        <p:nvSpPr>
          <p:cNvPr id="8" name="Text 5"/>
          <p:cNvSpPr txBox="1"/>
          <p:nvPr/>
        </p:nvSpPr>
        <p:spPr>
          <a:xfrm>
            <a:off x="7132320" y="1828800"/>
            <a:ext cx="1828800" cy="640080"/>
          </a:xfrm>
          <a:prstGeom prst="rect">
            <a:avLst/>
          </a:prstGeom>
          <a:noFill/>
          <a:ln/>
        </p:spPr>
        <p:txBody>
          <a:bodyPr wrap="square" lIns="0" tIns="0" rIns="0" bIns="0" rtlCol="0" anchor="t"/>
          <a:lstStyle/>
          <a:p>
            <a:pPr indent="0" marL="0">
              <a:buNone/>
            </a:pPr>
            <a:r>
              <a:rPr lang="en-US" sz="3200" b="1" dirty="0">
                <a:solidFill>
                  <a:srgbClr val="1B8A5A"/>
                </a:solidFill>
              </a:rPr>
              <a:t>20 / 20</a:t>
            </a:r>
            <a:endParaRPr lang="en-US" sz="3200" dirty="0"/>
          </a:p>
        </p:txBody>
      </p:sp>
      <p:sp>
        <p:nvSpPr>
          <p:cNvPr id="9" name="Text 6"/>
          <p:cNvSpPr txBox="1"/>
          <p:nvPr/>
        </p:nvSpPr>
        <p:spPr>
          <a:xfrm>
            <a:off x="7132320" y="2468880"/>
            <a:ext cx="1828800" cy="365760"/>
          </a:xfrm>
          <a:prstGeom prst="rect">
            <a:avLst/>
          </a:prstGeom>
          <a:noFill/>
          <a:ln/>
        </p:spPr>
        <p:txBody>
          <a:bodyPr wrap="square" lIns="0" tIns="0" rIns="0" bIns="0" rtlCol="0" anchor="t"/>
          <a:lstStyle/>
          <a:p>
            <a:pPr indent="0" marL="0">
              <a:buNone/>
            </a:pPr>
            <a:r>
              <a:rPr lang="en-US" sz="1300" dirty="0">
                <a:solidFill>
                  <a:srgbClr val="4A5568"/>
                </a:solidFill>
              </a:rPr>
              <a:t>test set</a:t>
            </a:r>
            <a:endParaRPr lang="en-US" sz="1300" dirty="0"/>
          </a:p>
        </p:txBody>
      </p:sp>
      <p:sp>
        <p:nvSpPr>
          <p:cNvPr id="10" name="Shape 7"/>
          <p:cNvSpPr/>
          <p:nvPr/>
        </p:nvSpPr>
        <p:spPr>
          <a:xfrm>
            <a:off x="9372600" y="1691640"/>
            <a:ext cx="2286000" cy="1234440"/>
          </a:xfrm>
          <a:prstGeom prst="roundRect">
            <a:avLst>
              <a:gd name="adj" fmla="val 7407"/>
            </a:avLst>
          </a:prstGeom>
          <a:solidFill>
            <a:srgbClr val="FFFFFF"/>
          </a:solidFill>
          <a:ln w="12700">
            <a:solidFill>
              <a:srgbClr val="D5D8DE"/>
            </a:solidFill>
            <a:prstDash val="solid"/>
          </a:ln>
        </p:spPr>
      </p:sp>
      <p:sp>
        <p:nvSpPr>
          <p:cNvPr id="11" name="Text 8"/>
          <p:cNvSpPr txBox="1"/>
          <p:nvPr/>
        </p:nvSpPr>
        <p:spPr>
          <a:xfrm>
            <a:off x="9601200" y="1828800"/>
            <a:ext cx="1828800" cy="640080"/>
          </a:xfrm>
          <a:prstGeom prst="rect">
            <a:avLst/>
          </a:prstGeom>
          <a:noFill/>
          <a:ln/>
        </p:spPr>
        <p:txBody>
          <a:bodyPr wrap="square" lIns="0" tIns="0" rIns="0" bIns="0" rtlCol="0" anchor="t"/>
          <a:lstStyle/>
          <a:p>
            <a:pPr indent="0" marL="0">
              <a:buNone/>
            </a:pPr>
            <a:r>
              <a:rPr lang="en-US" sz="3200" b="1" dirty="0">
                <a:solidFill>
                  <a:srgbClr val="14213D"/>
                </a:solidFill>
              </a:rPr>
              <a:t>96%</a:t>
            </a:r>
            <a:endParaRPr lang="en-US" sz="3200" dirty="0"/>
          </a:p>
        </p:txBody>
      </p:sp>
      <p:sp>
        <p:nvSpPr>
          <p:cNvPr id="12" name="Text 9"/>
          <p:cNvSpPr txBox="1"/>
          <p:nvPr/>
        </p:nvSpPr>
        <p:spPr>
          <a:xfrm>
            <a:off x="9601200" y="2468880"/>
            <a:ext cx="1828800" cy="365760"/>
          </a:xfrm>
          <a:prstGeom prst="rect">
            <a:avLst/>
          </a:prstGeom>
          <a:noFill/>
          <a:ln/>
        </p:spPr>
        <p:txBody>
          <a:bodyPr wrap="square" lIns="0" tIns="0" rIns="0" bIns="0" rtlCol="0" anchor="t"/>
          <a:lstStyle/>
          <a:p>
            <a:pPr indent="0" marL="0">
              <a:buNone/>
            </a:pPr>
            <a:r>
              <a:rPr lang="en-US" sz="1300" dirty="0">
                <a:solidFill>
                  <a:srgbClr val="4A5568"/>
                </a:solidFill>
              </a:rPr>
              <a:t>mean of 200 random splits (worst 85%)</a:t>
            </a:r>
            <a:endParaRPr lang="en-US" sz="1300" dirty="0"/>
          </a:p>
        </p:txBody>
      </p:sp>
      <p:sp>
        <p:nvSpPr>
          <p:cNvPr id="13" name="Text 10"/>
          <p:cNvSpPr txBox="1"/>
          <p:nvPr/>
        </p:nvSpPr>
        <p:spPr>
          <a:xfrm>
            <a:off x="6903720" y="3200400"/>
            <a:ext cx="4754880" cy="822960"/>
          </a:xfrm>
          <a:prstGeom prst="rect">
            <a:avLst/>
          </a:prstGeom>
          <a:noFill/>
          <a:ln/>
        </p:spPr>
        <p:txBody>
          <a:bodyPr wrap="square" lIns="0" tIns="0" rIns="0" bIns="0" rtlCol="0" anchor="t"/>
          <a:lstStyle/>
          <a:p>
            <a:pPr indent="0" marL="0">
              <a:buNone/>
            </a:pPr>
            <a:r>
              <a:rPr lang="en-US" sz="1500" dirty="0">
                <a:solidFill>
                  <a:srgbClr val="4A5568"/>
                </a:solidFill>
              </a:rPr>
              <a:t>The curve bends: as problem cues rise, a message needs more purchase cues to count as sales.</a:t>
            </a:r>
            <a:endParaRPr lang="en-US" sz="1500" dirty="0"/>
          </a:p>
        </p:txBody>
      </p:sp>
      <p:sp>
        <p:nvSpPr>
          <p:cNvPr id="14" name="Text 11"/>
          <p:cNvSpPr txBox="1"/>
          <p:nvPr/>
        </p:nvSpPr>
        <p:spPr>
          <a:xfrm>
            <a:off x="6903720" y="4114800"/>
            <a:ext cx="4754880" cy="1463040"/>
          </a:xfrm>
          <a:prstGeom prst="rect">
            <a:avLst/>
          </a:prstGeom>
          <a:noFill/>
          <a:ln/>
        </p:spPr>
        <p:txBody>
          <a:bodyPr wrap="square" lIns="0" tIns="0" rIns="0" bIns="0" rtlCol="0" anchor="t"/>
          <a:lstStyle/>
          <a:p>
            <a:pPr indent="0" marL="0">
              <a:buNone/>
            </a:pPr>
            <a:r>
              <a:rPr lang="en-US" sz="1500" b="1" dirty="0">
                <a:solidFill>
                  <a:srgbClr val="14213D"/>
                </a:solidFill>
              </a:rPr>
              <a:t>Weak spot: </a:t>
            </a:r>
            <a:pPr indent="0" marL="0">
              <a:buNone/>
            </a:pPr>
            <a:r>
              <a:rPr lang="en-US" sz="1500" dirty="0">
                <a:solidFill>
                  <a:srgbClr val="4A5568"/>
                </a:solidFill>
              </a:rPr>
              <a:t>mixed intent 2/4. The circled messages have more purchase words than problem words, so it sends them to sales — it counts words, it cannot apply a priority rule.</a:t>
            </a:r>
            <a:endParaRPr lang="en-US" sz="1500" dirty="0"/>
          </a:p>
        </p:txBody>
      </p:sp>
      <p:sp>
        <p:nvSpPr>
          <p:cNvPr id="15" name="Text 12"/>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Points are jittered slightly so overlapping messages stay visible</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1B8A5A"/>
          </a:solidFill>
          <a:ln w="12700">
            <a:solidFill>
              <a:srgbClr val="1B8A5A"/>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OMAR</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1B8A5A"/>
                </a:solidFill>
                <a:latin typeface="Courier New" pitchFamily="34" charset="0"/>
                <a:ea typeface="Courier New" pitchFamily="34" charset="-122"/>
                <a:cs typeface="Courier New" pitchFamily="34" charset="-120"/>
              </a:rPr>
              <a:t>HEAD-TO-HEAD</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Each model wins where the other fails</a:t>
            </a:r>
            <a:endParaRPr lang="en-US" sz="3200" dirty="0"/>
          </a:p>
        </p:txBody>
      </p:sp>
      <p:graphicFrame>
        <p:nvGraphicFramePr>
          <p:cNvPr id="6" name="Chart 0" descr=""/>
          <p:cNvGraphicFramePr/>
          <p:nvPr/>
        </p:nvGraphicFramePr>
        <p:xfrm>
          <a:off x="548640" y="1600200"/>
          <a:ext cx="621792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022592" y="1737360"/>
          <a:ext cx="4617720" cy="914400"/>
        </p:xfrm>
        <a:graphic>
          <a:graphicData uri="http://schemas.openxmlformats.org/drawingml/2006/table">
            <a:tbl>
              <a:tblPr/>
              <a:tblGrid>
                <a:gridCol w="3063240"/>
                <a:gridCol w="685800"/>
                <a:gridCol w="868680"/>
              </a:tblGrid>
              <a:tr h="0">
                <a:tc>
                  <a:txBody>
                    <a:bodyPr/>
                    <a:lstStyle/>
                    <a:p>
                      <a:pPr indent="0" marL="0">
                        <a:buNone/>
                      </a:pPr>
                      <a:r>
                        <a:rPr lang="en-US" sz="1200" b="1" dirty="0">
                          <a:solidFill>
                            <a:srgbClr val="14213D"/>
                          </a:solidFill>
                        </a:rPr>
                        <a:t>Hard message</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200" b="1" dirty="0">
                          <a:solidFill>
                            <a:srgbClr val="14213D"/>
                          </a:solidFill>
                        </a:rPr>
                        <a:t>ML</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c>
                  <a:txBody>
                    <a:bodyPr/>
                    <a:lstStyle/>
                    <a:p>
                      <a:pPr indent="0" marL="0">
                        <a:buNone/>
                      </a:pPr>
                      <a:r>
                        <a:rPr lang="en-US" sz="1200" b="1" dirty="0">
                          <a:solidFill>
                            <a:srgbClr val="14213D"/>
                          </a:solidFill>
                        </a:rPr>
                        <a:t>Decision</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4E8EE"/>
                    </a:solidFill>
                  </a:tcPr>
                </a:tc>
              </a:tr>
              <a:tr h="0">
                <a:tc>
                  <a:txBody>
                    <a:bodyPr/>
                    <a:lstStyle/>
                    <a:p>
                      <a:pPr indent="0" marL="0">
                        <a:buNone/>
                      </a:pPr>
                      <a:r>
                        <a:rPr lang="en-US" sz="1200" dirty="0">
                          <a:solidFill>
                            <a:srgbClr val="14213D"/>
                          </a:solidFill>
                        </a:rPr>
                        <a:t>“Your quote said 4 weeks… isn’t commissioned” (support)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13D"/>
                          </a:solidFill>
                        </a:rPr>
                        <a:t>“Please quote the repair cost…” (support)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200" dirty="0">
                          <a:solidFill>
                            <a:srgbClr val="14213D"/>
                          </a:solidFill>
                        </a:rPr>
                        <a:t>“Not unhappy… want pricing for a second chiller” (sales)</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13D"/>
                          </a:solidFill>
                        </a:rPr>
                        <a:t>“Order 20 more filters like last time” (sales)</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EEF0F3"/>
                    </a:solidFill>
                  </a:tcPr>
                </a:tc>
              </a:tr>
              <a:tr h="0">
                <a:tc>
                  <a:txBody>
                    <a:bodyPr/>
                    <a:lstStyle/>
                    <a:p>
                      <a:pPr indent="0" marL="0">
                        <a:buNone/>
                      </a:pPr>
                      <a:r>
                        <a:rPr lang="en-US" sz="1200" dirty="0">
                          <a:solidFill>
                            <a:srgbClr val="14213D"/>
                          </a:solidFill>
                        </a:rPr>
                        <a:t>“We can’t decide between… compressors” (sales)</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t>
                      </a:r>
                      <a:endParaRPr lang="en-US" sz="1200" dirty="0"/>
                    </a:p>
                  </a:txBody>
                  <a:tcPr marL="91440" marR="91440" marT="64008" marB="64008" anchor="ctr">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Same 5/8 on the hard set, but with different mistakes. Counts: ML 20/20 · 2/4 · 5/8 — decision model 16/20 · 4/4 · 5/8</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spc="200" kern="0" dirty="0">
                <a:solidFill>
                  <a:srgbClr val="8FB8EE"/>
                </a:solidFill>
                <a:latin typeface="Courier New" pitchFamily="34" charset="0"/>
                <a:ea typeface="Courier New" pitchFamily="34" charset="-122"/>
                <a:cs typeface="Courier New" pitchFamily="34" charset="-120"/>
              </a:rPr>
              <a:t>RECOMMENDATION FOR KIO</a:t>
            </a:r>
            <a:endParaRPr lang="en-US" sz="1100" dirty="0"/>
          </a:p>
        </p:txBody>
      </p:sp>
      <p:sp>
        <p:nvSpPr>
          <p:cNvPr id="3" name="Text 0"/>
          <p:cNvSpPr/>
          <p:nvPr>
            <p:ph idx="100" type="title" hasCustomPrompt="1"/>
          </p:nvPr>
        </p:nvSpPr>
        <p:spPr>
          <a:xfrm>
            <a:off x="548640" y="713232"/>
            <a:ext cx="11094415" cy="1371600"/>
          </a:xfrm>
          <a:prstGeom prst="rect">
            <a:avLst/>
          </a:prstGeom>
          <a:noFill/>
          <a:ln/>
        </p:spPr>
        <p:txBody>
          <a:bodyPr wrap="square" lIns="0" tIns="0" rIns="0" bIns="0" rtlCol="0" anchor="t"/>
          <a:lstStyle/>
          <a:p>
            <a:pPr algn="l" indent="0" marL="0">
              <a:buNone/>
            </a:pPr>
            <a:r>
              <a:rPr lang="en-US" sz="3400" b="1" dirty="0">
                <a:solidFill>
                  <a:srgbClr val="F7F6F2"/>
                </a:solidFill>
              </a:rPr>
              <a:t>Keep the classifier as the main router, and call the decision model only for messages that mix both kinds of cues</a:t>
            </a:r>
            <a:endParaRPr lang="en-US" sz="3400" dirty="0"/>
          </a:p>
        </p:txBody>
      </p:sp>
      <p:sp>
        <p:nvSpPr>
          <p:cNvPr id="4" name="Shape 2"/>
          <p:cNvSpPr/>
          <p:nvPr/>
        </p:nvSpPr>
        <p:spPr>
          <a:xfrm>
            <a:off x="548640" y="2971800"/>
            <a:ext cx="457200" cy="457200"/>
          </a:xfrm>
          <a:prstGeom prst="ellipse">
            <a:avLst/>
          </a:prstGeom>
          <a:solidFill>
            <a:srgbClr val="F5A27F"/>
          </a:solidFill>
          <a:ln w="12700">
            <a:solidFill>
              <a:srgbClr val="F5A27F"/>
            </a:solidFill>
            <a:prstDash val="solid"/>
          </a:ln>
        </p:spPr>
      </p:sp>
      <p:sp>
        <p:nvSpPr>
          <p:cNvPr id="5" name="Text 3"/>
          <p:cNvSpPr txBox="1"/>
          <p:nvPr/>
        </p:nvSpPr>
        <p:spPr>
          <a:xfrm>
            <a:off x="548640" y="297180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rPr>
              <a:t>1</a:t>
            </a:r>
            <a:endParaRPr lang="en-US" sz="1600" dirty="0"/>
          </a:p>
        </p:txBody>
      </p:sp>
      <p:sp>
        <p:nvSpPr>
          <p:cNvPr id="6" name="Text 4"/>
          <p:cNvSpPr txBox="1"/>
          <p:nvPr/>
        </p:nvSpPr>
        <p:spPr>
          <a:xfrm>
            <a:off x="548640" y="3611880"/>
            <a:ext cx="3515258" cy="411480"/>
          </a:xfrm>
          <a:prstGeom prst="rect">
            <a:avLst/>
          </a:prstGeom>
          <a:noFill/>
          <a:ln/>
        </p:spPr>
        <p:txBody>
          <a:bodyPr wrap="square" lIns="0" tIns="0" rIns="0" bIns="0" rtlCol="0" anchor="t"/>
          <a:lstStyle/>
          <a:p>
            <a:pPr indent="0" marL="0">
              <a:buNone/>
            </a:pPr>
            <a:r>
              <a:rPr lang="en-US" sz="1900" b="1" dirty="0">
                <a:solidFill>
                  <a:srgbClr val="F7F6F2"/>
                </a:solidFill>
              </a:rPr>
              <a:t>Why</a:t>
            </a:r>
            <a:endParaRPr lang="en-US" sz="1900" dirty="0"/>
          </a:p>
        </p:txBody>
      </p:sp>
      <p:sp>
        <p:nvSpPr>
          <p:cNvPr id="7" name="Text 5"/>
          <p:cNvSpPr txBox="1"/>
          <p:nvPr/>
        </p:nvSpPr>
        <p:spPr>
          <a:xfrm>
            <a:off x="548640" y="4069080"/>
            <a:ext cx="3515258" cy="1828800"/>
          </a:xfrm>
          <a:prstGeom prst="rect">
            <a:avLst/>
          </a:prstGeom>
          <a:noFill/>
          <a:ln/>
        </p:spPr>
        <p:txBody>
          <a:bodyPr wrap="square" lIns="0" tIns="0" rIns="0" bIns="0" rtlCol="0" anchor="t"/>
          <a:lstStyle/>
          <a:p>
            <a:pPr indent="0" marL="0">
              <a:buNone/>
            </a:pPr>
            <a:r>
              <a:rPr lang="en-US" sz="1500" dirty="0">
                <a:solidFill>
                  <a:srgbClr val="C9D3E3"/>
                </a:solidFill>
              </a:rPr>
              <a:t>The classifier is perfect on clear messages and instant; the decision model is the one that handles mixed intent.</a:t>
            </a:r>
            <a:endParaRPr lang="en-US" sz="1500" dirty="0"/>
          </a:p>
        </p:txBody>
      </p:sp>
      <p:sp>
        <p:nvSpPr>
          <p:cNvPr id="8" name="Shape 6"/>
          <p:cNvSpPr/>
          <p:nvPr/>
        </p:nvSpPr>
        <p:spPr>
          <a:xfrm>
            <a:off x="4338218" y="2971800"/>
            <a:ext cx="457200" cy="457200"/>
          </a:xfrm>
          <a:prstGeom prst="ellipse">
            <a:avLst/>
          </a:prstGeom>
          <a:solidFill>
            <a:srgbClr val="8FB8EE"/>
          </a:solidFill>
          <a:ln w="12700">
            <a:solidFill>
              <a:srgbClr val="8FB8EE"/>
            </a:solidFill>
            <a:prstDash val="solid"/>
          </a:ln>
        </p:spPr>
      </p:sp>
      <p:sp>
        <p:nvSpPr>
          <p:cNvPr id="9" name="Text 7"/>
          <p:cNvSpPr txBox="1"/>
          <p:nvPr/>
        </p:nvSpPr>
        <p:spPr>
          <a:xfrm>
            <a:off x="4338218" y="297180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rPr>
              <a:t>2</a:t>
            </a:r>
            <a:endParaRPr lang="en-US" sz="1600" dirty="0"/>
          </a:p>
        </p:txBody>
      </p:sp>
      <p:sp>
        <p:nvSpPr>
          <p:cNvPr id="10" name="Text 8"/>
          <p:cNvSpPr txBox="1"/>
          <p:nvPr/>
        </p:nvSpPr>
        <p:spPr>
          <a:xfrm>
            <a:off x="4338218" y="3611880"/>
            <a:ext cx="3515258" cy="411480"/>
          </a:xfrm>
          <a:prstGeom prst="rect">
            <a:avLst/>
          </a:prstGeom>
          <a:noFill/>
          <a:ln/>
        </p:spPr>
        <p:txBody>
          <a:bodyPr wrap="square" lIns="0" tIns="0" rIns="0" bIns="0" rtlCol="0" anchor="t"/>
          <a:lstStyle/>
          <a:p>
            <a:pPr indent="0" marL="0">
              <a:buNone/>
            </a:pPr>
            <a:r>
              <a:rPr lang="en-US" sz="1900" b="1" dirty="0">
                <a:solidFill>
                  <a:srgbClr val="F7F6F2"/>
                </a:solidFill>
              </a:rPr>
              <a:t>How</a:t>
            </a:r>
            <a:endParaRPr lang="en-US" sz="1900" dirty="0"/>
          </a:p>
        </p:txBody>
      </p:sp>
      <p:sp>
        <p:nvSpPr>
          <p:cNvPr id="11" name="Text 9"/>
          <p:cNvSpPr txBox="1"/>
          <p:nvPr/>
        </p:nvSpPr>
        <p:spPr>
          <a:xfrm>
            <a:off x="4338218" y="4069080"/>
            <a:ext cx="3515258" cy="1828800"/>
          </a:xfrm>
          <a:prstGeom prst="rect">
            <a:avLst/>
          </a:prstGeom>
          <a:noFill/>
          <a:ln/>
        </p:spPr>
        <p:txBody>
          <a:bodyPr wrap="square" lIns="0" tIns="0" rIns="0" bIns="0" rtlCol="0" anchor="t"/>
          <a:lstStyle/>
          <a:p>
            <a:pPr indent="0" marL="0">
              <a:buNone/>
            </a:pPr>
            <a:r>
              <a:rPr lang="en-US" sz="1500" dirty="0">
                <a:solidFill>
                  <a:srgbClr val="C9D3E3"/>
                </a:solidFill>
              </a:rPr>
              <a:t>If a message has both problem and purchase cues, ask the decision model; otherwise use the classifier. On our data this hybrid scored 19/20, 3/4 and 6/8.</a:t>
            </a:r>
            <a:endParaRPr lang="en-US" sz="1500" dirty="0"/>
          </a:p>
        </p:txBody>
      </p:sp>
      <p:sp>
        <p:nvSpPr>
          <p:cNvPr id="12" name="Shape 10"/>
          <p:cNvSpPr/>
          <p:nvPr/>
        </p:nvSpPr>
        <p:spPr>
          <a:xfrm>
            <a:off x="8127797" y="2971800"/>
            <a:ext cx="457200" cy="457200"/>
          </a:xfrm>
          <a:prstGeom prst="ellipse">
            <a:avLst/>
          </a:prstGeom>
          <a:solidFill>
            <a:srgbClr val="C9D3E3"/>
          </a:solidFill>
          <a:ln w="12700">
            <a:solidFill>
              <a:srgbClr val="C9D3E3"/>
            </a:solidFill>
            <a:prstDash val="solid"/>
          </a:ln>
        </p:spPr>
      </p:sp>
      <p:sp>
        <p:nvSpPr>
          <p:cNvPr id="13" name="Text 11"/>
          <p:cNvSpPr txBox="1"/>
          <p:nvPr/>
        </p:nvSpPr>
        <p:spPr>
          <a:xfrm>
            <a:off x="8127797" y="297180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rPr>
              <a:t>3</a:t>
            </a:r>
            <a:endParaRPr lang="en-US" sz="1600" dirty="0"/>
          </a:p>
        </p:txBody>
      </p:sp>
      <p:sp>
        <p:nvSpPr>
          <p:cNvPr id="14" name="Text 12"/>
          <p:cNvSpPr txBox="1"/>
          <p:nvPr/>
        </p:nvSpPr>
        <p:spPr>
          <a:xfrm>
            <a:off x="8127797" y="3611880"/>
            <a:ext cx="3515258" cy="411480"/>
          </a:xfrm>
          <a:prstGeom prst="rect">
            <a:avLst/>
          </a:prstGeom>
          <a:noFill/>
          <a:ln/>
        </p:spPr>
        <p:txBody>
          <a:bodyPr wrap="square" lIns="0" tIns="0" rIns="0" bIns="0" rtlCol="0" anchor="t"/>
          <a:lstStyle/>
          <a:p>
            <a:pPr indent="0" marL="0">
              <a:buNone/>
            </a:pPr>
            <a:r>
              <a:rPr lang="en-US" sz="1900" b="1" dirty="0">
                <a:solidFill>
                  <a:srgbClr val="F7F6F2"/>
                </a:solidFill>
              </a:rPr>
              <a:t>Caveat</a:t>
            </a:r>
            <a:endParaRPr lang="en-US" sz="1900" dirty="0"/>
          </a:p>
        </p:txBody>
      </p:sp>
      <p:sp>
        <p:nvSpPr>
          <p:cNvPr id="15" name="Text 13"/>
          <p:cNvSpPr txBox="1"/>
          <p:nvPr/>
        </p:nvSpPr>
        <p:spPr>
          <a:xfrm>
            <a:off x="8127797" y="4069080"/>
            <a:ext cx="3515258" cy="1828800"/>
          </a:xfrm>
          <a:prstGeom prst="rect">
            <a:avLst/>
          </a:prstGeom>
          <a:noFill/>
          <a:ln/>
        </p:spPr>
        <p:txBody>
          <a:bodyPr wrap="square" lIns="0" tIns="0" rIns="0" bIns="0" rtlCol="0" anchor="t"/>
          <a:lstStyle/>
          <a:p>
            <a:pPr indent="0" marL="0">
              <a:buNone/>
            </a:pPr>
            <a:r>
              <a:rPr lang="en-US" sz="1500" dirty="0">
                <a:solidFill>
                  <a:srgbClr val="C9D3E3"/>
                </a:solidFill>
              </a:rPr>
              <a:t>The hybrid rule was designed after seeing our results, so it must be checked on a fresh, hand-labelled set of real KIO messages before launch.</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1B8A5A"/>
          </a:solidFill>
          <a:ln w="12700">
            <a:solidFill>
              <a:srgbClr val="1B8A5A"/>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OMAR</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1B8A5A"/>
                </a:solidFill>
                <a:latin typeface="Courier New" pitchFamily="34" charset="0"/>
                <a:ea typeface="Courier New" pitchFamily="34" charset="-122"/>
                <a:cs typeface="Courier New" pitchFamily="34" charset="-120"/>
              </a:rPr>
              <a:t>REPRODUCE IT</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Everything runs in one notebook</a:t>
            </a:r>
            <a:endParaRPr lang="en-US" sz="3200" dirty="0"/>
          </a:p>
        </p:txBody>
      </p:sp>
      <p:sp>
        <p:nvSpPr>
          <p:cNvPr id="6" name="Shape 4"/>
          <p:cNvSpPr/>
          <p:nvPr/>
        </p:nvSpPr>
        <p:spPr>
          <a:xfrm>
            <a:off x="548640" y="1737360"/>
            <a:ext cx="5852160" cy="3108960"/>
          </a:xfrm>
          <a:prstGeom prst="roundRect">
            <a:avLst>
              <a:gd name="adj" fmla="val 2941"/>
            </a:avLst>
          </a:prstGeom>
          <a:solidFill>
            <a:srgbClr val="1E2A44"/>
          </a:solidFill>
          <a:ln w="12700">
            <a:solidFill>
              <a:srgbClr val="1E2A44"/>
            </a:solidFill>
            <a:prstDash val="solid"/>
          </a:ln>
        </p:spPr>
      </p:sp>
      <p:sp>
        <p:nvSpPr>
          <p:cNvPr id="7" name="Text 5"/>
          <p:cNvSpPr txBox="1"/>
          <p:nvPr/>
        </p:nvSpPr>
        <p:spPr>
          <a:xfrm>
            <a:off x="777240" y="1920240"/>
            <a:ext cx="5394960" cy="2743200"/>
          </a:xfrm>
          <a:prstGeom prst="rect">
            <a:avLst/>
          </a:prstGeom>
          <a:noFill/>
          <a:ln/>
        </p:spPr>
        <p:txBody>
          <a:bodyPr wrap="square" lIns="0" tIns="0" rIns="0" bIns="0" rtlCol="0" anchor="t"/>
          <a:lstStyle/>
          <a:p>
            <a:pPr indent="0" marL="0">
              <a:buNone/>
            </a:pPr>
            <a:r>
              <a:rPr lang="en-US" sz="1400" dirty="0">
                <a:solidFill>
                  <a:srgbClr val="E6EDF7"/>
                </a:solidFill>
                <a:latin typeface="Courier New" pitchFamily="34" charset="0"/>
                <a:ea typeface="Courier New" pitchFamily="34" charset="-122"/>
                <a:cs typeface="Courier New" pitchFamily="34" charset="-120"/>
              </a:rPr>
              <a:t>Google Colab → KIO_Routing.ipynb</a:t>
            </a:r>
            <a:endParaRPr lang="en-US" sz="1400" dirty="0"/>
          </a:p>
          <a:p>
            <a:pPr indent="0" marL="0">
              <a:buNone/>
            </a:pPr>
            <a:r>
              <a:rPr lang="en-US" sz="1400" dirty="0">
                <a:solidFill>
                  <a:srgbClr val="E6EDF7"/>
                </a:solidFill>
                <a:latin typeface="Courier New" pitchFamily="34" charset="0"/>
                <a:ea typeface="Courier New" pitchFamily="34" charset="-122"/>
                <a:cs typeface="Courier New" pitchFamily="34" charset="-120"/>
              </a:rPr>
              <a:t>Runtime → Run all   (about 3 minutes)</a:t>
            </a:r>
            <a:endParaRPr lang="en-US" sz="1400" dirty="0"/>
          </a:p>
          <a:p>
            <a:pPr indent="0" marL="0">
              <a:buNone/>
            </a:pPr>
            <a:endParaRPr lang="en-US" sz="1400" dirty="0"/>
          </a:p>
          <a:p>
            <a:pPr indent="0" marL="0">
              <a:buNone/>
            </a:pPr>
            <a:r>
              <a:rPr lang="en-US" sz="1400" dirty="0">
                <a:solidFill>
                  <a:srgbClr val="E6EDF7"/>
                </a:solidFill>
                <a:latin typeface="Courier New" pitchFamily="34" charset="0"/>
                <a:ea typeface="Courier New" pitchFamily="34" charset="-122"/>
                <a:cs typeface="Courier New" pitchFamily="34" charset="-120"/>
              </a:rPr>
              <a:t>1  Dataset          60 + 8 messages</a:t>
            </a:r>
            <a:endParaRPr lang="en-US" sz="1400" dirty="0"/>
          </a:p>
          <a:p>
            <a:pPr indent="0" marL="0">
              <a:buNone/>
            </a:pPr>
            <a:r>
              <a:rPr lang="en-US" sz="1400" dirty="0">
                <a:solidFill>
                  <a:srgbClr val="E6EDF7"/>
                </a:solidFill>
                <a:latin typeface="Courier New" pitchFamily="34" charset="0"/>
                <a:ea typeface="Courier New" pitchFamily="34" charset="-122"/>
                <a:cs typeface="Courier New" pitchFamily="34" charset="-120"/>
              </a:rPr>
              <a:t>2  ML classifier    features, LogReg, boundary</a:t>
            </a:r>
            <a:endParaRPr lang="en-US" sz="1400" dirty="0"/>
          </a:p>
          <a:p>
            <a:pPr indent="0" marL="0">
              <a:buNone/>
            </a:pPr>
            <a:r>
              <a:rPr lang="en-US" sz="1400" dirty="0">
                <a:solidFill>
                  <a:srgbClr val="E6EDF7"/>
                </a:solidFill>
                <a:latin typeface="Courier New" pitchFamily="34" charset="0"/>
                <a:ea typeface="Courier New" pitchFamily="34" charset="-122"/>
                <a:cs typeface="Courier New" pitchFamily="34" charset="-120"/>
              </a:rPr>
              <a:t>3  Decision model   BART-MNLI + wrapper</a:t>
            </a:r>
            <a:endParaRPr lang="en-US" sz="1400" dirty="0"/>
          </a:p>
          <a:p>
            <a:pPr indent="0" marL="0">
              <a:buNone/>
            </a:pPr>
            <a:r>
              <a:rPr lang="en-US" sz="1400" dirty="0">
                <a:solidFill>
                  <a:srgbClr val="E6EDF7"/>
                </a:solidFill>
                <a:latin typeface="Courier New" pitchFamily="34" charset="0"/>
                <a:ea typeface="Courier New" pitchFamily="34" charset="-122"/>
                <a:cs typeface="Courier New" pitchFamily="34" charset="-120"/>
              </a:rPr>
              <a:t>4  Comparison       accuracy, confusion</a:t>
            </a:r>
            <a:endParaRPr lang="en-US" sz="1400" dirty="0"/>
          </a:p>
          <a:p>
            <a:pPr indent="0" marL="0">
              <a:buNone/>
            </a:pPr>
            <a:r>
              <a:rPr lang="en-US" sz="1400" dirty="0">
                <a:solidFill>
                  <a:srgbClr val="E6EDF7"/>
                </a:solidFill>
                <a:latin typeface="Courier New" pitchFamily="34" charset="0"/>
                <a:ea typeface="Courier New" pitchFamily="34" charset="-122"/>
                <a:cs typeface="Courier New" pitchFamily="34" charset="-120"/>
              </a:rPr>
              <a:t>5  KIO demo         message → flag → agent</a:t>
            </a:r>
            <a:endParaRPr lang="en-US" sz="1400" dirty="0"/>
          </a:p>
        </p:txBody>
      </p:sp>
      <p:sp>
        <p:nvSpPr>
          <p:cNvPr id="8" name="Text 6"/>
          <p:cNvSpPr txBox="1"/>
          <p:nvPr/>
        </p:nvSpPr>
        <p:spPr>
          <a:xfrm>
            <a:off x="6766560" y="1828800"/>
            <a:ext cx="4846320" cy="822960"/>
          </a:xfrm>
          <a:prstGeom prst="rect">
            <a:avLst/>
          </a:prstGeom>
          <a:noFill/>
          <a:ln/>
        </p:spPr>
        <p:txBody>
          <a:bodyPr wrap="square" lIns="0" tIns="0" rIns="0" bIns="0" rtlCol="0" anchor="t"/>
          <a:lstStyle/>
          <a:p>
            <a:pPr indent="0" marL="0">
              <a:buNone/>
            </a:pPr>
            <a:r>
              <a:rPr lang="en-US" sz="1500" b="1" dirty="0">
                <a:solidFill>
                  <a:srgbClr val="14213D"/>
                </a:solidFill>
              </a:rPr>
              <a:t>GitHub: </a:t>
            </a:r>
            <a:pPr indent="0" marL="0">
              <a:buNone/>
            </a:pPr>
            <a:r>
              <a:rPr lang="en-US" sz="1500" u="sng" dirty="0">
                <a:solidFill>
                  <a:srgbClr val="4A5568"/>
                </a:solidFill>
                <a:hlinkClick r:id="rId1" invalidUrl="" action="" tgtFrame="" tooltip="" history="1" highlightClick="0" endSnd="0">
                  <a:extLst>
                    <a:ext uri="{A12FA001-AC4F-418D-AE19-62706E023703}">
                      <ahyp:hlinkClr xmlns:ahyp="http://schemas.microsoft.com/office/drawing/2018/hyperlinkcolor" val="tx"/>
                    </a:ext>
                  </a:extLst>
                </a:hlinkClick>
              </a:rPr>
              <a:t>github.com/Ahmed-Aldmrdash/ml-project01-agent-kio-routing</a:t>
            </a:r>
            <a:endParaRPr lang="en-US" sz="1500" dirty="0"/>
          </a:p>
        </p:txBody>
      </p:sp>
      <p:sp>
        <p:nvSpPr>
          <p:cNvPr id="9" name="Text 7"/>
          <p:cNvSpPr txBox="1"/>
          <p:nvPr/>
        </p:nvSpPr>
        <p:spPr>
          <a:xfrm>
            <a:off x="6766560" y="2834640"/>
            <a:ext cx="4846320" cy="1097280"/>
          </a:xfrm>
          <a:prstGeom prst="rect">
            <a:avLst/>
          </a:prstGeom>
          <a:noFill/>
          <a:ln/>
        </p:spPr>
        <p:txBody>
          <a:bodyPr wrap="square" lIns="0" tIns="0" rIns="0" bIns="0" rtlCol="0" anchor="t"/>
          <a:lstStyle/>
          <a:p>
            <a:pPr indent="0" marL="0">
              <a:buNone/>
            </a:pPr>
            <a:r>
              <a:rPr lang="en-US" sz="1500" dirty="0">
                <a:solidFill>
                  <a:srgbClr val="4A5568"/>
                </a:solidFill>
              </a:rPr>
              <a:t>Live demo (if time allows): type a new customer message into the last cell and show which agent it reaches.</a:t>
            </a:r>
            <a:endParaRPr lang="en-US" sz="1500" dirty="0"/>
          </a:p>
        </p:txBody>
      </p:sp>
      <p:sp>
        <p:nvSpPr>
          <p:cNvPr id="10" name="Text 8"/>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Backup slide — use during questions</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29184"/>
            <a:ext cx="960120" cy="274320"/>
          </a:xfrm>
          <a:prstGeom prst="roundRect">
            <a:avLst>
              <a:gd name="adj" fmla="val 50000"/>
            </a:avLst>
          </a:prstGeom>
          <a:solidFill>
            <a:srgbClr val="1B8A5A"/>
          </a:solidFill>
          <a:ln w="12700">
            <a:solidFill>
              <a:srgbClr val="1B8A5A"/>
            </a:solidFill>
            <a:prstDash val="solid"/>
          </a:ln>
        </p:spPr>
      </p:sp>
      <p:sp>
        <p:nvSpPr>
          <p:cNvPr id="3" name="Text 1"/>
          <p:cNvSpPr txBox="1"/>
          <p:nvPr/>
        </p:nvSpPr>
        <p:spPr>
          <a:xfrm>
            <a:off x="548640" y="329184"/>
            <a:ext cx="96012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OMAR</a:t>
            </a:r>
            <a:endParaRPr lang="en-US" sz="1000" dirty="0"/>
          </a:p>
        </p:txBody>
      </p:sp>
      <p:sp>
        <p:nvSpPr>
          <p:cNvPr id="4" name="Text 2"/>
          <p:cNvSpPr txBox="1"/>
          <p:nvPr/>
        </p:nvSpPr>
        <p:spPr>
          <a:xfrm>
            <a:off x="1645920" y="356616"/>
            <a:ext cx="8229600" cy="274320"/>
          </a:xfrm>
          <a:prstGeom prst="rect">
            <a:avLst/>
          </a:prstGeom>
          <a:noFill/>
          <a:ln/>
        </p:spPr>
        <p:txBody>
          <a:bodyPr wrap="square" lIns="0" tIns="0" rIns="0" bIns="0" rtlCol="0" anchor="t"/>
          <a:lstStyle/>
          <a:p>
            <a:pPr indent="0" marL="0">
              <a:buNone/>
            </a:pPr>
            <a:r>
              <a:rPr lang="en-US" sz="1100" b="1" spc="200" kern="0" dirty="0">
                <a:solidFill>
                  <a:srgbClr val="1B8A5A"/>
                </a:solidFill>
                <a:latin typeface="Courier New" pitchFamily="34" charset="0"/>
                <a:ea typeface="Courier New" pitchFamily="34" charset="-122"/>
                <a:cs typeface="Courier New" pitchFamily="34" charset="-120"/>
              </a:rPr>
              <a:t>SOURCES AND TOOLS</a:t>
            </a:r>
            <a:endParaRPr lang="en-US" sz="1100" dirty="0"/>
          </a:p>
        </p:txBody>
      </p:sp>
      <p:sp>
        <p:nvSpPr>
          <p:cNvPr id="5" name="Text 0"/>
          <p:cNvSpPr/>
          <p:nvPr>
            <p:ph idx="100"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200" b="1" dirty="0">
                <a:solidFill>
                  <a:srgbClr val="14213D"/>
                </a:solidFill>
              </a:rPr>
              <a:t>What we used</a:t>
            </a:r>
            <a:endParaRPr lang="en-US" sz="3200" dirty="0"/>
          </a:p>
        </p:txBody>
      </p:sp>
      <p:sp>
        <p:nvSpPr>
          <p:cNvPr id="6" name="Text 4"/>
          <p:cNvSpPr txBox="1"/>
          <p:nvPr/>
        </p:nvSpPr>
        <p:spPr>
          <a:xfrm>
            <a:off x="548640" y="1783080"/>
            <a:ext cx="11094415" cy="40233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4A5568"/>
                </a:solidFill>
              </a:rPr>
              <a:t>CET351 Project 1 brief, “Routing for Agent KIO”, Elsewedy University of Technology, 2026</a:t>
            </a:r>
            <a:endParaRPr lang="en-US" sz="1700" dirty="0"/>
          </a:p>
          <a:p>
            <a:pPr marL="342900" indent="-342900">
              <a:spcAft>
                <a:spcPts val="1200"/>
              </a:spcAft>
              <a:buSzPct val="100000"/>
              <a:buChar char="•"/>
            </a:pPr>
            <a:r>
              <a:rPr lang="en-US" sz="1700" u="sng" dirty="0">
                <a:solidFill>
                  <a:srgbClr val="4A5568"/>
                </a:solidFill>
                <a:hlinkClick r:id="rId1" invalidUrl="" action="" tgtFrame="" tooltip="" history="1" highlightClick="0" endSnd="0">
                  <a:extLst>
                    <a:ext uri="{A12FA001-AC4F-418D-AE19-62706E023703}">
                      <ahyp:hlinkClr xmlns:ahyp="http://schemas.microsoft.com/office/drawing/2018/hyperlinkcolor" val="tx"/>
                    </a:ext>
                  </a:extLst>
                </a:hlinkClick>
              </a:rPr>
              <a:t>Lewis et al., BART (2019); facebook/bart-large-mnli on Hugging Face, MIT licence</a:t>
            </a:r>
            <a:endParaRPr lang="en-US" sz="1700" dirty="0"/>
          </a:p>
          <a:p>
            <a:pPr marL="342900" indent="-342900">
              <a:spcAft>
                <a:spcPts val="1200"/>
              </a:spcAft>
              <a:buSzPct val="100000"/>
              <a:buChar char="•"/>
            </a:pPr>
            <a:r>
              <a:rPr lang="en-US" sz="1700" dirty="0">
                <a:solidFill>
                  <a:srgbClr val="4A5568"/>
                </a:solidFill>
              </a:rPr>
              <a:t>Hugging Face transformers — zero-shot-classification pipeline (Apache-2.0)</a:t>
            </a:r>
            <a:endParaRPr lang="en-US" sz="1700" dirty="0"/>
          </a:p>
          <a:p>
            <a:pPr marL="342900" indent="-342900">
              <a:spcAft>
                <a:spcPts val="1200"/>
              </a:spcAft>
              <a:buSzPct val="100000"/>
              <a:buChar char="•"/>
            </a:pPr>
            <a:r>
              <a:rPr lang="en-US" sz="1700" dirty="0">
                <a:solidFill>
                  <a:srgbClr val="4A5568"/>
                </a:solidFill>
              </a:rPr>
              <a:t>scikit-learn 1.x (BSD-3-Clause): StandardScaler, PolynomialFeatures, LogisticRegression, SVC</a:t>
            </a:r>
            <a:endParaRPr lang="en-US" sz="1700" dirty="0"/>
          </a:p>
          <a:p>
            <a:pPr marL="342900" indent="-342900">
              <a:spcAft>
                <a:spcPts val="1200"/>
              </a:spcAft>
              <a:buSzPct val="100000"/>
              <a:buChar char="•"/>
            </a:pPr>
            <a:r>
              <a:rPr lang="en-US" sz="1700" u="sng" dirty="0">
                <a:solidFill>
                  <a:srgbClr val="4A5568"/>
                </a:solidFill>
                <a:hlinkClick r:id="rId2" invalidUrl="" action="" tgtFrame="" tooltip="" history="1" highlightClick="0" endSnd="0">
                  <a:extLst>
                    <a:ext uri="{A12FA001-AC4F-418D-AE19-62706E023703}">
                      <ahyp:hlinkClr xmlns:ahyp="http://schemas.microsoft.com/office/drawing/2018/hyperlinkcolor" val="tx"/>
                    </a:ext>
                  </a:extLst>
                </a:hlinkClick>
              </a:rPr>
              <a:t>TypeSafe AI, Jev decision model (the brief’s example): nexos.ai/blog/what-is-jev</a:t>
            </a:r>
            <a:endParaRPr lang="en-US" sz="1700" dirty="0"/>
          </a:p>
          <a:p>
            <a:pPr marL="342900" indent="-342900">
              <a:spcAft>
                <a:spcPts val="1200"/>
              </a:spcAft>
              <a:buSzPct val="100000"/>
              <a:buChar char="•"/>
            </a:pPr>
            <a:r>
              <a:rPr lang="en-US" sz="1700" dirty="0">
                <a:solidFill>
                  <a:srgbClr val="4A5568"/>
                </a:solidFill>
              </a:rPr>
              <a:t>AI assistant (Claude) used to draft the synthetic messages; labels reviewed by the team</a:t>
            </a:r>
            <a:endParaRPr lang="en-US" sz="1700" dirty="0"/>
          </a:p>
        </p:txBody>
      </p:sp>
      <p:sp>
        <p:nvSpPr>
          <p:cNvPr id="7" name="Text 5"/>
          <p:cNvSpPr txBox="1"/>
          <p:nvPr/>
        </p:nvSpPr>
        <p:spPr>
          <a:xfrm>
            <a:off x="548640" y="6400800"/>
            <a:ext cx="10180015" cy="274320"/>
          </a:xfrm>
          <a:prstGeom prst="rect">
            <a:avLst/>
          </a:prstGeom>
          <a:noFill/>
          <a:ln/>
        </p:spPr>
        <p:txBody>
          <a:bodyPr wrap="square" lIns="0" tIns="0" rIns="0" bIns="0" rtlCol="0" anchor="t"/>
          <a:lstStyle/>
          <a:p>
            <a:pPr indent="0" marL="0">
              <a:buNone/>
            </a:pPr>
            <a:r>
              <a:rPr lang="en-US" sz="1000" dirty="0">
                <a:solidFill>
                  <a:srgbClr val="6B7689"/>
                </a:solidFill>
              </a:rPr>
              <a:t>Sources</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689"/>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KIO Routing">
  <a:themeElements>
    <a:clrScheme name="KIO Routing">
      <a:dk1>
        <a:srgbClr val="14213D"/>
      </a:dk1>
      <a:lt1>
        <a:srgbClr val="FFFFFF"/>
      </a:lt1>
      <a:dk2>
        <a:srgbClr val="4A5568"/>
      </a:dk2>
      <a:lt2>
        <a:srgbClr val="F4F5F7"/>
      </a:lt2>
      <a:accent1>
        <a:srgbClr val="2A78D6"/>
      </a:accent1>
      <a:accent2>
        <a:srgbClr val="EB6834"/>
      </a:accent2>
      <a:accent3>
        <a:srgbClr val="8FB8EE"/>
      </a:accent3>
      <a:accent4>
        <a:srgbClr val="F5A27F"/>
      </a:accent4>
      <a:accent5>
        <a:srgbClr val="8A97AD"/>
      </a:accent5>
      <a:accent6>
        <a:srgbClr val="1BAF7A"/>
      </a:accent6>
      <a:hlink>
        <a:srgbClr val="2A78D6"/>
      </a:hlink>
      <a:folHlink>
        <a:srgbClr val="6250D6"/>
      </a:folHlink>
    </a:clrScheme>
    <a:fontScheme name="KIO Rout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Routing for Agent KIO</dc:title>
  <dc:subject>PptxGenJS Presentation</dc:subject>
  <dc:creator>Ahmed Mohamed Aldamardash, Moaaz Abd Aljawwad, Omar Ahmed Ramadan</dc:creator>
  <cp:lastModifiedBy>Ahmed Mohamed Aldamardash, Moaaz Abd Aljawwad, Omar Ahmed Ramadan</cp:lastModifiedBy>
  <cp:revision>1</cp:revision>
  <dcterms:created xsi:type="dcterms:W3CDTF">2026-10-24T20:44:35Z</dcterms:created>
  <dcterms:modified xsi:type="dcterms:W3CDTF">2026-10-24T20:44:35Z</dcterms:modified>
</cp:coreProperties>
</file>