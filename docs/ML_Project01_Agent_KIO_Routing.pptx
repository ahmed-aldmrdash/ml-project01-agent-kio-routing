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hmed — problem and dataset" id="{e7bafc0e-0162-2839-fab6-2c21b64272ad}">
          <p14:sldIdLst>
            <p14:sldId id="256"/>
            <p14:sldId id="257"/>
            <p14:sldId id="258"/>
            <p14:sldId id="259"/>
            <p14:sldId id="260"/>
          </p14:sldIdLst>
        </p14:section>
        <p14:section name="Moaaz — decision model" id="{d792b349-30ed-c549-78b4-12890fd95c8c}">
          <p14:sldIdLst>
            <p14:sldId id="261"/>
            <p14:sldId id="262"/>
            <p14:sldId id="263"/>
          </p14:sldIdLst>
        </p14:section>
        <p14:section name="Omar — ML classifier, comparison, recommendation" id="{b90fd10e-ddbe-e55a-4b5e-81ac4d40764d}">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Correct routes (%)</a:t>
            </a:r>
          </a:p>
        </c:rich>
      </c:tx>
      <c:layout/>
      <c:overlay val="0"/>
    </c:title>
    <c:autoTitleDeleted val="0"/>
    <c:plotArea>
      <c:layout/>
      <c:barChart>
        <c:barDir val="col"/>
        <c:grouping val="clustered"/>
        <c:varyColors val="0"/>
        <c:ser>
          <c:idx val="0"/>
          <c:order val="0"/>
          <c:tx>
            <c:strRef>
              <c:f>Sheet1!$B$1</c:f>
              <c:strCache>
                <c:ptCount val="1"/>
                <c:pt idx="0">
                  <c:v>ML classifier</c:v>
                </c:pt>
              </c:strCache>
            </c:strRef>
          </c:tx>
          <c:spPr>
            <a:solidFill>
              <a:srgbClr val="2A78D6"/>
            </a:solidFill>
            <a:effectLst/>
          </c:spPr>
          <c:invertIfNegative val="0"/>
          <c:dLbls>
            <c:numFmt formatCode="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Sheet1!$A$2:$A$4</c:f>
              <c:multiLvlStrCache>
                <c:ptCount val="3"/>
                <c:lvl>
                  <c:pt idx="0">
                    <c:v>Test set (20)</c:v>
                  </c:pt>
                  <c:pt idx="1">
                    <c:v>Mixed intent (4)</c:v>
                  </c:pt>
                  <c:pt idx="2">
                    <c:v>New hard cases (8)</c:v>
                  </c:pt>
                </c:lvl>
              </c:multiLvlStrCache>
            </c:multiLvlStrRef>
          </c:cat>
          <c:val>
            <c:numRef>
              <c:f>Sheet1!$B$2:$B$4</c:f>
              <c:numCache>
                <c:formatCode>General</c:formatCode>
                <c:ptCount val="3"/>
                <c:pt idx="0">
                  <c:v>100</c:v>
                </c:pt>
                <c:pt idx="1">
                  <c:v>50</c:v>
                </c:pt>
                <c:pt idx="2">
                  <c:v>62.5</c:v>
                </c:pt>
              </c:numCache>
            </c:numRef>
          </c:val>
        </c:ser>
        <c:ser>
          <c:idx val="1"/>
          <c:order val="1"/>
          <c:tx>
            <c:strRef>
              <c:f>Sheet1!$C$1</c:f>
              <c:strCache>
                <c:ptCount val="1"/>
                <c:pt idx="0">
                  <c:v>Decision model</c:v>
                </c:pt>
              </c:strCache>
            </c:strRef>
          </c:tx>
          <c:spPr>
            <a:solidFill>
              <a:srgbClr val="EB6834"/>
            </a:solidFill>
            <a:effectLst/>
          </c:spPr>
          <c:invertIfNegative val="0"/>
          <c:dLbls>
            <c:numFmt formatCode="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Sheet1!$A$2:$A$4</c:f>
              <c:multiLvlStrCache>
                <c:ptCount val="3"/>
                <c:lvl>
                  <c:pt idx="0">
                    <c:v>Test set (20)</c:v>
                  </c:pt>
                  <c:pt idx="1">
                    <c:v>Mixed intent (4)</c:v>
                  </c:pt>
                  <c:pt idx="2">
                    <c:v>New hard cases (8)</c:v>
                  </c:pt>
                </c:lvl>
              </c:multiLvlStrCache>
            </c:multiLvlStrRef>
          </c:cat>
          <c:val>
            <c:numRef>
              <c:f>Sheet1!$C$2:$C$4</c:f>
              <c:numCache>
                <c:formatCode>General</c:formatCode>
                <c:ptCount val="3"/>
                <c:pt idx="0">
                  <c:v>100</c:v>
                </c:pt>
                <c:pt idx="1">
                  <c:v>100</c:v>
                </c:pt>
                <c:pt idx="2">
                  <c:v>100</c:v>
                </c:pt>
              </c:numCache>
            </c:numRef>
          </c:val>
        </c:ser>
        <c:dLbls>
          <c:numFmt formatCode="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4E3DF"/>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689"/>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 opens. 15 seconds: who we are and the question — can a decision model route Agent KIO requests better than the trained classifier the agency uses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KIO is a customer chatbot built on an LLM and search tools. Behind it are two specialist agents. Our job is only the router in the middle: read the message, output 0 for support or 1 for sales. In our demo both agents are simple Python functions that print their names. Routing chooses the workflow, retrieval then works inside it, so a wrong route means the wrong knowledge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15 customer intents per class, each written as an original and a paraphrase, all about an industrial equipment supplier. We drafted them with an AI assistant and reviewed every label as a team before any test. Split by group, not by single message, so a paraphrase never leaks from training into test. Seed 42, balanced: 20 support and 20 sales for training, 10 and 10 for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two rows only: M05, where negation flips the meaning, and M08, where a purchase and a problem are mixed and our rule says support. These two kinds of rows are where the two approaches will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classifier only knows what it saw in 40 examples, turned into numbers. The decision model reads the message itself and follows written routing instructions, so a business rule like “mixed intent goes to support” is one sentence, not new training data. Both end in the same flag: 0 support, 1 sales. Hand over to Moaaz.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have a Jev API key; it is a paid early-access API. The project allows a similar decision model, so we used Claude with a fixed structured-output wrapper: the same options and instructions a Jev Choice question would get. The Jev call is already written in decision_router.py. Validation: the wrapper accepts only the two option names; anything else becomes flag 0, because sending a real problem to sales is the worse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three numbers, then read one hard example aloud. The decision model handles meaning, not words: “quote” appears in a support message and “can’t” appears in a sales message, and it still routes both correctly. The 8 extra messages are a stress test written after the split, with the same labeling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it earns marks. Our decision model scored 100 percent, but the AI that answered also helped write the messages, so it shares our labeling rule. With only 28 scored messages, one mistake would move accuracy a lot. In production it costs money per request and adds latency. Hand over to Omar.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logistic regression with degree-2 polynomial features, one of the three allowed options. Features: two numbers, so we can draw the boundary. Settings: scaling, degree 2, C equals 1. The failed first attempt: learning word weights from only 40 messages reached 40 percent, because test messages use words the model never saw. Cue counts generalize better. Honest note: the cue lists were written by our team, which knows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plot: x is problem cues, y is purchase cues. Blue region is flag 0, orange region is flag 1. Circles are training messages, squares are test messages. The two circled points are the mixed-intent messages the classifier gets wrong: it counts words, it cannot apply a priority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ordinary test set both approaches are perfect. The difference appears only on hard messages: mixed intent 2 of 4 versus 4 of 4, and our 8 new hard messages 5 of 8 versus 8 of 8. Every ML error comes from a keyword pulling the wrong way: “quote” inside a complaint, “can’t” inside a sales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recommendation in one sentence: the decision model for routing, the classifier as a cheap fallback. Then one line on next steps: a real, hand-labeled test before trusting either number. Thank you —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leave it on screen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5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11094415" cy="822960"/>
          </a:xfrm>
          <a:prstGeom prst="rect">
            <a:avLst/>
          </a:prstGeom>
          <a:noFill/>
          <a:ln/>
        </p:spPr>
        <p:txBody>
          <a:bodyPr wrap="square" rtlCol="0"/>
          <a:lstStyle>
            <a:lvl1pPr algn="l" indent="0" marL="0">
              <a:buNone/>
              <a:defRPr lang="en-US" sz="3400" b="1" dirty="0">
                <a:solidFill>
                  <a:srgbClr val="14213D"/>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11094415" cy="1371600"/>
          </a:xfrm>
          <a:prstGeom prst="rect">
            <a:avLst/>
          </a:prstGeom>
          <a:noFill/>
          <a:ln/>
        </p:spPr>
        <p:txBody>
          <a:bodyPr wrap="square" rtlCol="0"/>
          <a:lstStyle>
            <a:lvl1pPr algn="l" indent="0" marL="0">
              <a:buNone/>
              <a:defRPr lang="en-US" sz="3600" b="1" dirty="0">
                <a:solidFill>
                  <a:srgbClr val="F7F6F2"/>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nexos.ai/blog/what-is-jev/" TargetMode="External"/><Relationship Id="rId2" Type="http://schemas.openxmlformats.org/officeDocument/2006/relationships/hyperlink" Target="https://composio.dev/blog/typesafe-jev-guide-and-best-practical-usecases"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t"/>
          <a:lstStyle/>
          <a:p>
            <a:pPr indent="0" marL="0">
              <a:buNone/>
            </a:pPr>
            <a:r>
              <a:rPr lang="en-US" sz="1400" b="1" spc="200" kern="0" dirty="0">
                <a:solidFill>
                  <a:srgbClr val="8FB8EE"/>
                </a:solidFill>
                <a:latin typeface="Courier New" pitchFamily="34" charset="0"/>
                <a:ea typeface="Courier New" pitchFamily="34" charset="-122"/>
                <a:cs typeface="Courier New" pitchFamily="34" charset="-120"/>
              </a:rPr>
              <a:t>CET351 MACHINE LEARNING · LECTURE PROJECT 01</a:t>
            </a:r>
            <a:endParaRPr lang="en-US" sz="1400" dirty="0"/>
          </a:p>
        </p:txBody>
      </p:sp>
      <p:sp>
        <p:nvSpPr>
          <p:cNvPr id="3" name="Text 1"/>
          <p:cNvSpPr txBox="1"/>
          <p:nvPr/>
        </p:nvSpPr>
        <p:spPr>
          <a:xfrm>
            <a:off x="548640" y="2011680"/>
            <a:ext cx="11094415" cy="1005840"/>
          </a:xfrm>
          <a:prstGeom prst="rect">
            <a:avLst/>
          </a:prstGeom>
          <a:noFill/>
          <a:ln/>
        </p:spPr>
        <p:txBody>
          <a:bodyPr wrap="square" lIns="0" tIns="0" rIns="0" bIns="0" rtlCol="0" anchor="t"/>
          <a:lstStyle/>
          <a:p>
            <a:pPr indent="0" marL="0">
              <a:buNone/>
            </a:pPr>
            <a:r>
              <a:rPr lang="en-US" sz="5400" b="1" dirty="0">
                <a:solidFill>
                  <a:srgbClr val="F7F6F2"/>
                </a:solidFill>
              </a:rPr>
              <a:t>Routing for Agent KIO</a:t>
            </a:r>
            <a:endParaRPr lang="en-US" sz="5400" dirty="0"/>
          </a:p>
        </p:txBody>
      </p:sp>
      <p:sp>
        <p:nvSpPr>
          <p:cNvPr id="4" name="Text 2"/>
          <p:cNvSpPr txBox="1"/>
          <p:nvPr/>
        </p:nvSpPr>
        <p:spPr>
          <a:xfrm>
            <a:off x="548640" y="3154680"/>
            <a:ext cx="9601200" cy="1005840"/>
          </a:xfrm>
          <a:prstGeom prst="rect">
            <a:avLst/>
          </a:prstGeom>
          <a:noFill/>
          <a:ln/>
        </p:spPr>
        <p:txBody>
          <a:bodyPr wrap="square" lIns="0" tIns="0" rIns="0" bIns="0" rtlCol="0" anchor="t"/>
          <a:lstStyle/>
          <a:p>
            <a:pPr indent="0" marL="0">
              <a:buNone/>
            </a:pPr>
            <a:r>
              <a:rPr lang="en-US" sz="2200" dirty="0">
                <a:solidFill>
                  <a:srgbClr val="C9D3E3"/>
                </a:solidFill>
              </a:rPr>
              <a:t>A trained ML classifier vs. a decision model for sending manufacturing customers to </a:t>
            </a:r>
            <a:pPr indent="0" marL="0">
              <a:buNone/>
            </a:pPr>
            <a:r>
              <a:rPr lang="en-US" sz="2200" dirty="0">
                <a:solidFill>
                  <a:srgbClr val="8FB8EE"/>
                </a:solidFill>
              </a:rPr>
              <a:t>support</a:t>
            </a:r>
            <a:pPr indent="0" marL="0">
              <a:buNone/>
            </a:pPr>
            <a:r>
              <a:rPr lang="en-US" sz="2200" dirty="0">
                <a:solidFill>
                  <a:srgbClr val="C9D3E3"/>
                </a:solidFill>
              </a:rPr>
              <a:t> or </a:t>
            </a:r>
            <a:pPr indent="0" marL="0">
              <a:buNone/>
            </a:pPr>
            <a:r>
              <a:rPr lang="en-US" sz="2200" dirty="0">
                <a:solidFill>
                  <a:srgbClr val="F5A27F"/>
                </a:solidFill>
              </a:rPr>
              <a:t>sales</a:t>
            </a:r>
            <a:endParaRPr lang="en-US" sz="2200" dirty="0"/>
          </a:p>
        </p:txBody>
      </p:sp>
      <p:sp>
        <p:nvSpPr>
          <p:cNvPr id="5" name="Text 3"/>
          <p:cNvSpPr txBox="1"/>
          <p:nvPr/>
        </p:nvSpPr>
        <p:spPr>
          <a:xfrm>
            <a:off x="548640" y="5349240"/>
            <a:ext cx="3566160" cy="274320"/>
          </a:xfrm>
          <a:prstGeom prst="rect">
            <a:avLst/>
          </a:prstGeom>
          <a:noFill/>
          <a:ln/>
        </p:spPr>
        <p:txBody>
          <a:bodyPr wrap="square" lIns="0" tIns="0" rIns="0" bIns="0" rtlCol="0" anchor="t"/>
          <a:lstStyle/>
          <a:p>
            <a:pPr indent="0" marL="0">
              <a:buNone/>
            </a:pPr>
            <a:r>
              <a:rPr lang="en-US" sz="1200" dirty="0">
                <a:solidFill>
                  <a:srgbClr val="8A97AD"/>
                </a:solidFill>
              </a:rPr>
              <a:t>Student 1 · Problem &amp; dataset</a:t>
            </a:r>
            <a:endParaRPr lang="en-US" sz="1200" dirty="0"/>
          </a:p>
        </p:txBody>
      </p:sp>
      <p:sp>
        <p:nvSpPr>
          <p:cNvPr id="6" name="Text 4"/>
          <p:cNvSpPr txBox="1"/>
          <p:nvPr/>
        </p:nvSpPr>
        <p:spPr>
          <a:xfrm>
            <a:off x="548640" y="5623560"/>
            <a:ext cx="3566160" cy="411480"/>
          </a:xfrm>
          <a:prstGeom prst="rect">
            <a:avLst/>
          </a:prstGeom>
          <a:noFill/>
          <a:ln/>
        </p:spPr>
        <p:txBody>
          <a:bodyPr wrap="square" lIns="0" tIns="0" rIns="0" bIns="0" rtlCol="0" anchor="t"/>
          <a:lstStyle/>
          <a:p>
            <a:pPr indent="0" marL="0">
              <a:buNone/>
            </a:pPr>
            <a:r>
              <a:rPr lang="en-US" sz="1800" b="1" dirty="0">
                <a:solidFill>
                  <a:srgbClr val="F7F6F2"/>
                </a:solidFill>
              </a:rPr>
              <a:t>Ahmed Mohamed Aldamardash</a:t>
            </a:r>
            <a:endParaRPr lang="en-US" sz="1800" dirty="0"/>
          </a:p>
        </p:txBody>
      </p:sp>
      <p:sp>
        <p:nvSpPr>
          <p:cNvPr id="7" name="Text 5"/>
          <p:cNvSpPr txBox="1"/>
          <p:nvPr/>
        </p:nvSpPr>
        <p:spPr>
          <a:xfrm>
            <a:off x="4297680" y="5349240"/>
            <a:ext cx="3566160" cy="274320"/>
          </a:xfrm>
          <a:prstGeom prst="rect">
            <a:avLst/>
          </a:prstGeom>
          <a:noFill/>
          <a:ln/>
        </p:spPr>
        <p:txBody>
          <a:bodyPr wrap="square" lIns="0" tIns="0" rIns="0" bIns="0" rtlCol="0" anchor="t"/>
          <a:lstStyle/>
          <a:p>
            <a:pPr indent="0" marL="0">
              <a:buNone/>
            </a:pPr>
            <a:r>
              <a:rPr lang="en-US" sz="1200" dirty="0">
                <a:solidFill>
                  <a:srgbClr val="8A97AD"/>
                </a:solidFill>
              </a:rPr>
              <a:t>Student 2 · Decision model</a:t>
            </a:r>
            <a:endParaRPr lang="en-US" sz="1200" dirty="0"/>
          </a:p>
        </p:txBody>
      </p:sp>
      <p:sp>
        <p:nvSpPr>
          <p:cNvPr id="8" name="Text 6"/>
          <p:cNvSpPr txBox="1"/>
          <p:nvPr/>
        </p:nvSpPr>
        <p:spPr>
          <a:xfrm>
            <a:off x="4297680" y="5623560"/>
            <a:ext cx="3566160" cy="411480"/>
          </a:xfrm>
          <a:prstGeom prst="rect">
            <a:avLst/>
          </a:prstGeom>
          <a:noFill/>
          <a:ln/>
        </p:spPr>
        <p:txBody>
          <a:bodyPr wrap="square" lIns="0" tIns="0" rIns="0" bIns="0" rtlCol="0" anchor="t"/>
          <a:lstStyle/>
          <a:p>
            <a:pPr indent="0" marL="0">
              <a:buNone/>
            </a:pPr>
            <a:r>
              <a:rPr lang="en-US" sz="1800" b="1" dirty="0">
                <a:solidFill>
                  <a:srgbClr val="F7F6F2"/>
                </a:solidFill>
              </a:rPr>
              <a:t>Moaaz Abd Aljawwad</a:t>
            </a:r>
            <a:endParaRPr lang="en-US" sz="1800" dirty="0"/>
          </a:p>
        </p:txBody>
      </p:sp>
      <p:sp>
        <p:nvSpPr>
          <p:cNvPr id="9" name="Text 7"/>
          <p:cNvSpPr txBox="1"/>
          <p:nvPr/>
        </p:nvSpPr>
        <p:spPr>
          <a:xfrm>
            <a:off x="8046720" y="5349240"/>
            <a:ext cx="3566160" cy="274320"/>
          </a:xfrm>
          <a:prstGeom prst="rect">
            <a:avLst/>
          </a:prstGeom>
          <a:noFill/>
          <a:ln/>
        </p:spPr>
        <p:txBody>
          <a:bodyPr wrap="square" lIns="0" tIns="0" rIns="0" bIns="0" rtlCol="0" anchor="t"/>
          <a:lstStyle/>
          <a:p>
            <a:pPr indent="0" marL="0">
              <a:buNone/>
            </a:pPr>
            <a:r>
              <a:rPr lang="en-US" sz="1200" dirty="0">
                <a:solidFill>
                  <a:srgbClr val="8A97AD"/>
                </a:solidFill>
              </a:rPr>
              <a:t>Student 3 · ML classifier</a:t>
            </a:r>
            <a:endParaRPr lang="en-US" sz="1200" dirty="0"/>
          </a:p>
        </p:txBody>
      </p:sp>
      <p:sp>
        <p:nvSpPr>
          <p:cNvPr id="10" name="Text 8"/>
          <p:cNvSpPr txBox="1"/>
          <p:nvPr/>
        </p:nvSpPr>
        <p:spPr>
          <a:xfrm>
            <a:off x="8046720" y="5623560"/>
            <a:ext cx="3566160" cy="411480"/>
          </a:xfrm>
          <a:prstGeom prst="rect">
            <a:avLst/>
          </a:prstGeom>
          <a:noFill/>
          <a:ln/>
        </p:spPr>
        <p:txBody>
          <a:bodyPr wrap="square" lIns="0" tIns="0" rIns="0" bIns="0" rtlCol="0" anchor="t"/>
          <a:lstStyle/>
          <a:p>
            <a:pPr indent="0" marL="0">
              <a:buNone/>
            </a:pPr>
            <a:r>
              <a:rPr lang="en-US" sz="1800" b="1" dirty="0">
                <a:solidFill>
                  <a:srgbClr val="F7F6F2"/>
                </a:solidFill>
              </a:rPr>
              <a:t>Omar Ahmed Ramadan</a:t>
            </a:r>
            <a:endParaRPr lang="en-US" sz="1800" dirty="0"/>
          </a:p>
        </p:txBody>
      </p:sp>
      <p:sp>
        <p:nvSpPr>
          <p:cNvPr id="11" name="Text 9"/>
          <p:cNvSpPr txBox="1"/>
          <p:nvPr/>
        </p:nvSpPr>
        <p:spPr>
          <a:xfrm>
            <a:off x="548640" y="6217920"/>
            <a:ext cx="11094415" cy="274320"/>
          </a:xfrm>
          <a:prstGeom prst="rect">
            <a:avLst/>
          </a:prstGeom>
          <a:noFill/>
          <a:ln/>
        </p:spPr>
        <p:txBody>
          <a:bodyPr wrap="square" lIns="0" tIns="0" rIns="0" bIns="0" rtlCol="0" anchor="t"/>
          <a:lstStyle/>
          <a:p>
            <a:pPr indent="0" marL="0">
              <a:buNone/>
            </a:pPr>
            <a:r>
              <a:rPr lang="en-US" sz="1200" dirty="0">
                <a:solidFill>
                  <a:srgbClr val="8A97AD"/>
                </a:solidFill>
              </a:rPr>
              <a:t>Elsewedy University of Technology · 26 October 2026</a:t>
            </a:r>
            <a:endParaRPr lang="en-US" sz="1200" dirty="0"/>
          </a:p>
        </p:txBody>
      </p:sp>
      <p:sp>
        <p:nvSpPr>
          <p:cNvPr id="13" name="Text 0"/>
          <p:cNvSpPr/>
          <p:nvPr>
            <p:ph idx="100" type="title" hasCustomPrompt="1"/>
          </p:nvPr>
        </p:nvSpPr>
        <p:spPr>
          <a:xfrm>
            <a:off x="548640" y="685800"/>
            <a:ext cx="11094415" cy="137160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THE PROBLEM</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Our block: message in, routing flag out</a:t>
            </a:r>
            <a:endParaRPr lang="en-US" sz="3400" dirty="0"/>
          </a:p>
        </p:txBody>
      </p:sp>
      <p:sp>
        <p:nvSpPr>
          <p:cNvPr id="4" name="Shape 2"/>
          <p:cNvSpPr/>
          <p:nvPr/>
        </p:nvSpPr>
        <p:spPr>
          <a:xfrm>
            <a:off x="548640" y="1965960"/>
            <a:ext cx="2743200" cy="1828800"/>
          </a:xfrm>
          <a:prstGeom prst="roundRect">
            <a:avLst>
              <a:gd name="adj" fmla="val 6000"/>
            </a:avLst>
          </a:prstGeom>
          <a:solidFill>
            <a:srgbClr val="FFFFFF"/>
          </a:solidFill>
          <a:ln w="12700">
            <a:solidFill>
              <a:srgbClr val="D5D8DE"/>
            </a:solidFill>
            <a:prstDash val="solid"/>
          </a:ln>
        </p:spPr>
      </p:sp>
      <p:sp>
        <p:nvSpPr>
          <p:cNvPr id="5" name="Text 3"/>
          <p:cNvSpPr txBox="1"/>
          <p:nvPr/>
        </p:nvSpPr>
        <p:spPr>
          <a:xfrm>
            <a:off x="777240" y="2148840"/>
            <a:ext cx="2286000" cy="365760"/>
          </a:xfrm>
          <a:prstGeom prst="rect">
            <a:avLst/>
          </a:prstGeom>
          <a:noFill/>
          <a:ln/>
        </p:spPr>
        <p:txBody>
          <a:bodyPr wrap="square" lIns="0" tIns="0" rIns="0" bIns="0" rtlCol="0" anchor="t"/>
          <a:lstStyle/>
          <a:p>
            <a:pPr indent="0" marL="0">
              <a:buNone/>
            </a:pPr>
            <a:r>
              <a:rPr lang="en-US" sz="1700" b="1" dirty="0">
                <a:solidFill>
                  <a:srgbClr val="14213D"/>
                </a:solidFill>
              </a:rPr>
              <a:t>Customer message</a:t>
            </a:r>
            <a:endParaRPr lang="en-US" sz="1700" dirty="0"/>
          </a:p>
        </p:txBody>
      </p:sp>
      <p:sp>
        <p:nvSpPr>
          <p:cNvPr id="6" name="Text 4"/>
          <p:cNvSpPr txBox="1"/>
          <p:nvPr/>
        </p:nvSpPr>
        <p:spPr>
          <a:xfrm>
            <a:off x="777240" y="2606040"/>
            <a:ext cx="2286000" cy="1005840"/>
          </a:xfrm>
          <a:prstGeom prst="rect">
            <a:avLst/>
          </a:prstGeom>
          <a:noFill/>
          <a:ln/>
        </p:spPr>
        <p:txBody>
          <a:bodyPr wrap="square" lIns="0" tIns="0" rIns="0" bIns="0" rtlCol="0" anchor="t"/>
          <a:lstStyle/>
          <a:p>
            <a:pPr indent="0" marL="0">
              <a:buNone/>
            </a:pPr>
            <a:r>
              <a:rPr lang="en-US" sz="1400" i="1" dirty="0">
                <a:solidFill>
                  <a:srgbClr val="4A5568"/>
                </a:solidFill>
              </a:rPr>
              <a:t>“Our CNC lathe stopped and shows alarm 2031, please help.”</a:t>
            </a:r>
            <a:endParaRPr lang="en-US" sz="1400" dirty="0"/>
          </a:p>
        </p:txBody>
      </p:sp>
      <p:sp>
        <p:nvSpPr>
          <p:cNvPr id="7" name="Shape 5"/>
          <p:cNvSpPr/>
          <p:nvPr/>
        </p:nvSpPr>
        <p:spPr>
          <a:xfrm>
            <a:off x="3474720" y="2697480"/>
            <a:ext cx="548640" cy="365760"/>
          </a:xfrm>
          <a:prstGeom prst="rightArrow">
            <a:avLst/>
          </a:prstGeom>
          <a:solidFill>
            <a:srgbClr val="8A97AD"/>
          </a:solidFill>
          <a:ln w="12700">
            <a:solidFill>
              <a:srgbClr val="8A97AD"/>
            </a:solidFill>
            <a:prstDash val="solid"/>
          </a:ln>
        </p:spPr>
      </p:sp>
      <p:sp>
        <p:nvSpPr>
          <p:cNvPr id="8" name="Shape 6"/>
          <p:cNvSpPr/>
          <p:nvPr/>
        </p:nvSpPr>
        <p:spPr>
          <a:xfrm>
            <a:off x="4160520" y="1965960"/>
            <a:ext cx="2926080" cy="1828800"/>
          </a:xfrm>
          <a:prstGeom prst="roundRect">
            <a:avLst>
              <a:gd name="adj" fmla="val 6000"/>
            </a:avLst>
          </a:prstGeom>
          <a:solidFill>
            <a:srgbClr val="14213D"/>
          </a:solidFill>
          <a:ln w="12700">
            <a:solidFill>
              <a:srgbClr val="14213D"/>
            </a:solidFill>
            <a:prstDash val="solid"/>
          </a:ln>
        </p:spPr>
      </p:sp>
      <p:sp>
        <p:nvSpPr>
          <p:cNvPr id="9" name="Text 7"/>
          <p:cNvSpPr txBox="1"/>
          <p:nvPr/>
        </p:nvSpPr>
        <p:spPr>
          <a:xfrm>
            <a:off x="4389120" y="2148840"/>
            <a:ext cx="2468880" cy="365760"/>
          </a:xfrm>
          <a:prstGeom prst="rect">
            <a:avLst/>
          </a:prstGeom>
          <a:noFill/>
          <a:ln/>
        </p:spPr>
        <p:txBody>
          <a:bodyPr wrap="square" lIns="0" tIns="0" rIns="0" bIns="0" rtlCol="0" anchor="t"/>
          <a:lstStyle/>
          <a:p>
            <a:pPr indent="0" marL="0">
              <a:buNone/>
            </a:pPr>
            <a:r>
              <a:rPr lang="en-US" sz="1700" b="1" dirty="0">
                <a:solidFill>
                  <a:srgbClr val="F7F6F2"/>
                </a:solidFill>
              </a:rPr>
              <a:t>KIO intent router</a:t>
            </a:r>
            <a:endParaRPr lang="en-US" sz="1700" dirty="0"/>
          </a:p>
        </p:txBody>
      </p:sp>
      <p:sp>
        <p:nvSpPr>
          <p:cNvPr id="10" name="Text 8"/>
          <p:cNvSpPr txBox="1"/>
          <p:nvPr/>
        </p:nvSpPr>
        <p:spPr>
          <a:xfrm>
            <a:off x="4389120" y="2606040"/>
            <a:ext cx="2468880" cy="1005840"/>
          </a:xfrm>
          <a:prstGeom prst="rect">
            <a:avLst/>
          </a:prstGeom>
          <a:noFill/>
          <a:ln/>
        </p:spPr>
        <p:txBody>
          <a:bodyPr wrap="square" lIns="0" tIns="0" rIns="0" bIns="0" rtlCol="0" anchor="t"/>
          <a:lstStyle/>
          <a:p>
            <a:pPr indent="0" marL="0">
              <a:buNone/>
            </a:pPr>
            <a:r>
              <a:rPr lang="en-US" sz="1400" dirty="0">
                <a:solidFill>
                  <a:srgbClr val="C9D3E3"/>
                </a:solidFill>
              </a:rPr>
              <a:t>What we built and compared: ML classifier or decision model</a:t>
            </a:r>
            <a:endParaRPr lang="en-US" sz="1400" dirty="0"/>
          </a:p>
        </p:txBody>
      </p:sp>
      <p:sp>
        <p:nvSpPr>
          <p:cNvPr id="11" name="Shape 9"/>
          <p:cNvSpPr/>
          <p:nvPr/>
        </p:nvSpPr>
        <p:spPr>
          <a:xfrm>
            <a:off x="7223760" y="2697480"/>
            <a:ext cx="548640" cy="365760"/>
          </a:xfrm>
          <a:prstGeom prst="rightArrow">
            <a:avLst/>
          </a:prstGeom>
          <a:solidFill>
            <a:srgbClr val="8A97AD"/>
          </a:solidFill>
          <a:ln w="12700">
            <a:solidFill>
              <a:srgbClr val="8A97AD"/>
            </a:solidFill>
            <a:prstDash val="solid"/>
          </a:ln>
        </p:spPr>
      </p:sp>
      <p:sp>
        <p:nvSpPr>
          <p:cNvPr id="12" name="Shape 10"/>
          <p:cNvSpPr/>
          <p:nvPr/>
        </p:nvSpPr>
        <p:spPr>
          <a:xfrm>
            <a:off x="7909560" y="1965960"/>
            <a:ext cx="3730752" cy="868680"/>
          </a:xfrm>
          <a:prstGeom prst="roundRect">
            <a:avLst>
              <a:gd name="adj" fmla="val 12632"/>
            </a:avLst>
          </a:prstGeom>
          <a:solidFill>
            <a:srgbClr val="E3EEFB"/>
          </a:solidFill>
          <a:ln w="12700">
            <a:solidFill>
              <a:srgbClr val="E3EEFB"/>
            </a:solidFill>
            <a:prstDash val="solid"/>
          </a:ln>
        </p:spPr>
      </p:sp>
      <p:sp>
        <p:nvSpPr>
          <p:cNvPr id="13" name="Text 11"/>
          <p:cNvSpPr txBox="1"/>
          <p:nvPr/>
        </p:nvSpPr>
        <p:spPr>
          <a:xfrm>
            <a:off x="8092440" y="2057400"/>
            <a:ext cx="3383280" cy="320040"/>
          </a:xfrm>
          <a:prstGeom prst="rect">
            <a:avLst/>
          </a:prstGeom>
          <a:noFill/>
          <a:ln/>
        </p:spPr>
        <p:txBody>
          <a:bodyPr wrap="square" lIns="0" tIns="0" rIns="0" bIns="0" rtlCol="0" anchor="t"/>
          <a:lstStyle/>
          <a:p>
            <a:pPr indent="0" marL="0">
              <a:buNone/>
            </a:pPr>
            <a:r>
              <a:rPr lang="en-US" sz="1600" b="1" dirty="0">
                <a:solidFill>
                  <a:srgbClr val="14213D"/>
                </a:solidFill>
              </a:rPr>
              <a:t>Flag 0 → Support agent</a:t>
            </a:r>
            <a:endParaRPr lang="en-US" sz="1600" dirty="0"/>
          </a:p>
        </p:txBody>
      </p:sp>
      <p:sp>
        <p:nvSpPr>
          <p:cNvPr id="14" name="Text 12"/>
          <p:cNvSpPr txBox="1"/>
          <p:nvPr/>
        </p:nvSpPr>
        <p:spPr>
          <a:xfrm>
            <a:off x="8092440" y="2423160"/>
            <a:ext cx="3383280" cy="320040"/>
          </a:xfrm>
          <a:prstGeom prst="rect">
            <a:avLst/>
          </a:prstGeom>
          <a:noFill/>
          <a:ln/>
        </p:spPr>
        <p:txBody>
          <a:bodyPr wrap="square" lIns="0" tIns="0" rIns="0" bIns="0" rtlCol="0" anchor="t"/>
          <a:lstStyle/>
          <a:p>
            <a:pPr indent="0" marL="0">
              <a:buNone/>
            </a:pPr>
            <a:r>
              <a:rPr lang="en-US" sz="1300" dirty="0">
                <a:solidFill>
                  <a:srgbClr val="4A5568"/>
                </a:solidFill>
              </a:rPr>
              <a:t>Problems, complaints, existing orders</a:t>
            </a:r>
            <a:endParaRPr lang="en-US" sz="1300" dirty="0"/>
          </a:p>
        </p:txBody>
      </p:sp>
      <p:sp>
        <p:nvSpPr>
          <p:cNvPr id="15" name="Shape 13"/>
          <p:cNvSpPr/>
          <p:nvPr/>
        </p:nvSpPr>
        <p:spPr>
          <a:xfrm>
            <a:off x="7909560" y="2926080"/>
            <a:ext cx="3730752" cy="868680"/>
          </a:xfrm>
          <a:prstGeom prst="roundRect">
            <a:avLst>
              <a:gd name="adj" fmla="val 12632"/>
            </a:avLst>
          </a:prstGeom>
          <a:solidFill>
            <a:srgbClr val="FCE6DC"/>
          </a:solidFill>
          <a:ln w="12700">
            <a:solidFill>
              <a:srgbClr val="FCE6DC"/>
            </a:solidFill>
            <a:prstDash val="solid"/>
          </a:ln>
        </p:spPr>
      </p:sp>
      <p:sp>
        <p:nvSpPr>
          <p:cNvPr id="16" name="Text 14"/>
          <p:cNvSpPr txBox="1"/>
          <p:nvPr/>
        </p:nvSpPr>
        <p:spPr>
          <a:xfrm>
            <a:off x="8092440" y="3017520"/>
            <a:ext cx="3383280" cy="320040"/>
          </a:xfrm>
          <a:prstGeom prst="rect">
            <a:avLst/>
          </a:prstGeom>
          <a:noFill/>
          <a:ln/>
        </p:spPr>
        <p:txBody>
          <a:bodyPr wrap="square" lIns="0" tIns="0" rIns="0" bIns="0" rtlCol="0" anchor="t"/>
          <a:lstStyle/>
          <a:p>
            <a:pPr indent="0" marL="0">
              <a:buNone/>
            </a:pPr>
            <a:r>
              <a:rPr lang="en-US" sz="1600" b="1" dirty="0">
                <a:solidFill>
                  <a:srgbClr val="14213D"/>
                </a:solidFill>
              </a:rPr>
              <a:t>Flag 1 → Sales agent</a:t>
            </a:r>
            <a:endParaRPr lang="en-US" sz="1600" dirty="0"/>
          </a:p>
        </p:txBody>
      </p:sp>
      <p:sp>
        <p:nvSpPr>
          <p:cNvPr id="17" name="Text 15"/>
          <p:cNvSpPr txBox="1"/>
          <p:nvPr/>
        </p:nvSpPr>
        <p:spPr>
          <a:xfrm>
            <a:off x="8092440" y="3383280"/>
            <a:ext cx="3383280" cy="320040"/>
          </a:xfrm>
          <a:prstGeom prst="rect">
            <a:avLst/>
          </a:prstGeom>
          <a:noFill/>
          <a:ln/>
        </p:spPr>
        <p:txBody>
          <a:bodyPr wrap="square" lIns="0" tIns="0" rIns="0" bIns="0" rtlCol="0" anchor="t"/>
          <a:lstStyle/>
          <a:p>
            <a:pPr indent="0" marL="0">
              <a:buNone/>
            </a:pPr>
            <a:r>
              <a:rPr lang="en-US" sz="1300" dirty="0">
                <a:solidFill>
                  <a:srgbClr val="4A5568"/>
                </a:solidFill>
              </a:rPr>
              <a:t>New purchases, packages, quotes</a:t>
            </a:r>
            <a:endParaRPr lang="en-US" sz="1300" dirty="0"/>
          </a:p>
        </p:txBody>
      </p:sp>
      <p:sp>
        <p:nvSpPr>
          <p:cNvPr id="18" name="Text 16"/>
          <p:cNvSpPr txBox="1"/>
          <p:nvPr/>
        </p:nvSpPr>
        <p:spPr>
          <a:xfrm>
            <a:off x="548640" y="4343400"/>
            <a:ext cx="10058400" cy="914400"/>
          </a:xfrm>
          <a:prstGeom prst="rect">
            <a:avLst/>
          </a:prstGeom>
          <a:noFill/>
          <a:ln/>
        </p:spPr>
        <p:txBody>
          <a:bodyPr wrap="square" lIns="0" tIns="0" rIns="0" bIns="0" rtlCol="0" anchor="t"/>
          <a:lstStyle/>
          <a:p>
            <a:pPr indent="0" marL="0">
              <a:buNone/>
            </a:pPr>
            <a:r>
              <a:rPr lang="en-US" sz="1700" dirty="0">
                <a:solidFill>
                  <a:srgbClr val="4A5568"/>
                </a:solidFill>
              </a:rPr>
              <a:t>A wrong route sends the customer to the wrong tools and knowledge base: a broken machine ends up with a salesperson, and a ready buyer waits in the support queue.</a:t>
            </a:r>
            <a:endParaRPr lang="en-US" sz="1700" dirty="0"/>
          </a:p>
        </p:txBody>
      </p:sp>
      <p:sp>
        <p:nvSpPr>
          <p:cNvPr id="19" name="Text 17"/>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Ahmed · Problem statement</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THE DATASET</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60 synthetic messages from a manufacturing supplier</a:t>
            </a:r>
            <a:endParaRPr lang="en-US" sz="3400" dirty="0"/>
          </a:p>
        </p:txBody>
      </p:sp>
      <p:sp>
        <p:nvSpPr>
          <p:cNvPr id="4" name="Shape 2"/>
          <p:cNvSpPr/>
          <p:nvPr/>
        </p:nvSpPr>
        <p:spPr>
          <a:xfrm>
            <a:off x="548640" y="1783080"/>
            <a:ext cx="3515258" cy="3246120"/>
          </a:xfrm>
          <a:prstGeom prst="roundRect">
            <a:avLst>
              <a:gd name="adj" fmla="val 3380"/>
            </a:avLst>
          </a:prstGeom>
          <a:solidFill>
            <a:srgbClr val="FFFFFF"/>
          </a:solidFill>
          <a:ln w="12700">
            <a:solidFill>
              <a:srgbClr val="D5D8DE"/>
            </a:solidFill>
            <a:prstDash val="solid"/>
          </a:ln>
        </p:spPr>
      </p:sp>
      <p:sp>
        <p:nvSpPr>
          <p:cNvPr id="5" name="Text 3"/>
          <p:cNvSpPr txBox="1"/>
          <p:nvPr/>
        </p:nvSpPr>
        <p:spPr>
          <a:xfrm>
            <a:off x="822960" y="1965960"/>
            <a:ext cx="2966618" cy="731520"/>
          </a:xfrm>
          <a:prstGeom prst="rect">
            <a:avLst/>
          </a:prstGeom>
          <a:noFill/>
          <a:ln/>
        </p:spPr>
        <p:txBody>
          <a:bodyPr wrap="square" lIns="0" tIns="0" rIns="0" bIns="0" rtlCol="0" anchor="t"/>
          <a:lstStyle/>
          <a:p>
            <a:pPr indent="0" marL="0">
              <a:buNone/>
            </a:pPr>
            <a:r>
              <a:rPr lang="en-US" sz="3600" b="1" dirty="0">
                <a:solidFill>
                  <a:srgbClr val="14213D"/>
                </a:solidFill>
              </a:rPr>
              <a:t>30 + 30</a:t>
            </a:r>
            <a:endParaRPr lang="en-US" sz="3600" dirty="0"/>
          </a:p>
        </p:txBody>
      </p:sp>
      <p:sp>
        <p:nvSpPr>
          <p:cNvPr id="6" name="Text 4"/>
          <p:cNvSpPr txBox="1"/>
          <p:nvPr/>
        </p:nvSpPr>
        <p:spPr>
          <a:xfrm>
            <a:off x="822960" y="2743200"/>
            <a:ext cx="2966618" cy="365760"/>
          </a:xfrm>
          <a:prstGeom prst="rect">
            <a:avLst/>
          </a:prstGeom>
          <a:noFill/>
          <a:ln/>
        </p:spPr>
        <p:txBody>
          <a:bodyPr wrap="square" lIns="0" tIns="0" rIns="0" bIns="0" rtlCol="0" anchor="t"/>
          <a:lstStyle/>
          <a:p>
            <a:pPr indent="0" marL="0">
              <a:buNone/>
            </a:pPr>
            <a:r>
              <a:rPr lang="en-US" sz="1700" b="1" dirty="0">
                <a:solidFill>
                  <a:srgbClr val="14213D"/>
                </a:solidFill>
              </a:rPr>
              <a:t>Generation</a:t>
            </a:r>
            <a:endParaRPr lang="en-US" sz="1700" dirty="0"/>
          </a:p>
        </p:txBody>
      </p:sp>
      <p:sp>
        <p:nvSpPr>
          <p:cNvPr id="7" name="Text 5"/>
          <p:cNvSpPr txBox="1"/>
          <p:nvPr/>
        </p:nvSpPr>
        <p:spPr>
          <a:xfrm>
            <a:off x="822960" y="3154680"/>
            <a:ext cx="2966618" cy="1783080"/>
          </a:xfrm>
          <a:prstGeom prst="rect">
            <a:avLst/>
          </a:prstGeom>
          <a:noFill/>
          <a:ln/>
        </p:spPr>
        <p:txBody>
          <a:bodyPr wrap="square" lIns="0" tIns="0" rIns="0" bIns="0" rtlCol="0" anchor="t"/>
          <a:lstStyle/>
          <a:p>
            <a:pPr indent="0" marL="0">
              <a:buNone/>
            </a:pPr>
            <a:r>
              <a:rPr lang="en-US" sz="1400" dirty="0">
                <a:solidFill>
                  <a:srgbClr val="4A5568"/>
                </a:solidFill>
              </a:rPr>
              <a:t>Customers of a CNC, robot and compressor supplier. 15 intents per class, each written twice (an original plus a paraphrase). Drafted with an AI assistant, then reviewed by the team.</a:t>
            </a:r>
            <a:endParaRPr lang="en-US" sz="1400" dirty="0"/>
          </a:p>
        </p:txBody>
      </p:sp>
      <p:sp>
        <p:nvSpPr>
          <p:cNvPr id="8" name="Shape 6"/>
          <p:cNvSpPr/>
          <p:nvPr/>
        </p:nvSpPr>
        <p:spPr>
          <a:xfrm>
            <a:off x="4338218" y="1783080"/>
            <a:ext cx="3515258" cy="3246120"/>
          </a:xfrm>
          <a:prstGeom prst="roundRect">
            <a:avLst>
              <a:gd name="adj" fmla="val 3380"/>
            </a:avLst>
          </a:prstGeom>
          <a:solidFill>
            <a:srgbClr val="FFFFFF"/>
          </a:solidFill>
          <a:ln w="12700">
            <a:solidFill>
              <a:srgbClr val="D5D8DE"/>
            </a:solidFill>
            <a:prstDash val="solid"/>
          </a:ln>
        </p:spPr>
      </p:sp>
      <p:sp>
        <p:nvSpPr>
          <p:cNvPr id="9" name="Text 7"/>
          <p:cNvSpPr txBox="1"/>
          <p:nvPr/>
        </p:nvSpPr>
        <p:spPr>
          <a:xfrm>
            <a:off x="4612538" y="1965960"/>
            <a:ext cx="2966618" cy="731520"/>
          </a:xfrm>
          <a:prstGeom prst="rect">
            <a:avLst/>
          </a:prstGeom>
          <a:noFill/>
          <a:ln/>
        </p:spPr>
        <p:txBody>
          <a:bodyPr wrap="square" lIns="0" tIns="0" rIns="0" bIns="0" rtlCol="0" anchor="t"/>
          <a:lstStyle/>
          <a:p>
            <a:pPr indent="0" marL="0">
              <a:buNone/>
            </a:pPr>
            <a:r>
              <a:rPr lang="en-US" sz="3600" b="1" dirty="0">
                <a:solidFill>
                  <a:srgbClr val="14213D"/>
                </a:solidFill>
              </a:rPr>
              <a:t>1 rule</a:t>
            </a:r>
            <a:endParaRPr lang="en-US" sz="3600" dirty="0"/>
          </a:p>
        </p:txBody>
      </p:sp>
      <p:sp>
        <p:nvSpPr>
          <p:cNvPr id="10" name="Text 8"/>
          <p:cNvSpPr txBox="1"/>
          <p:nvPr/>
        </p:nvSpPr>
        <p:spPr>
          <a:xfrm>
            <a:off x="4612538" y="2743200"/>
            <a:ext cx="2966618" cy="365760"/>
          </a:xfrm>
          <a:prstGeom prst="rect">
            <a:avLst/>
          </a:prstGeom>
          <a:noFill/>
          <a:ln/>
        </p:spPr>
        <p:txBody>
          <a:bodyPr wrap="square" lIns="0" tIns="0" rIns="0" bIns="0" rtlCol="0" anchor="t"/>
          <a:lstStyle/>
          <a:p>
            <a:pPr indent="0" marL="0">
              <a:buNone/>
            </a:pPr>
            <a:r>
              <a:rPr lang="en-US" sz="1700" b="1" dirty="0">
                <a:solidFill>
                  <a:srgbClr val="14213D"/>
                </a:solidFill>
              </a:rPr>
              <a:t>Labels</a:t>
            </a:r>
            <a:endParaRPr lang="en-US" sz="1700" dirty="0"/>
          </a:p>
        </p:txBody>
      </p:sp>
      <p:sp>
        <p:nvSpPr>
          <p:cNvPr id="11" name="Text 9"/>
          <p:cNvSpPr txBox="1"/>
          <p:nvPr/>
        </p:nvSpPr>
        <p:spPr>
          <a:xfrm>
            <a:off x="4612538" y="3154680"/>
            <a:ext cx="2966618" cy="1783080"/>
          </a:xfrm>
          <a:prstGeom prst="rect">
            <a:avLst/>
          </a:prstGeom>
          <a:noFill/>
          <a:ln/>
        </p:spPr>
        <p:txBody>
          <a:bodyPr wrap="square" lIns="0" tIns="0" rIns="0" bIns="0" rtlCol="0" anchor="t"/>
          <a:lstStyle/>
          <a:p>
            <a:pPr indent="0" marL="0">
              <a:buNone/>
            </a:pPr>
            <a:r>
              <a:rPr lang="en-US" sz="1400" dirty="0">
                <a:solidFill>
                  <a:srgbClr val="4A5568"/>
                </a:solidFill>
              </a:rPr>
              <a:t>0 = support: something the customer already has is wrong. 1 = sales: they want to buy something new. Mixed intent goes to support, because existing problems come first. Agreed before testing.</a:t>
            </a:r>
            <a:endParaRPr lang="en-US" sz="1400" dirty="0"/>
          </a:p>
        </p:txBody>
      </p:sp>
      <p:sp>
        <p:nvSpPr>
          <p:cNvPr id="12" name="Shape 10"/>
          <p:cNvSpPr/>
          <p:nvPr/>
        </p:nvSpPr>
        <p:spPr>
          <a:xfrm>
            <a:off x="8127797" y="1783080"/>
            <a:ext cx="3515258" cy="3246120"/>
          </a:xfrm>
          <a:prstGeom prst="roundRect">
            <a:avLst>
              <a:gd name="adj" fmla="val 3380"/>
            </a:avLst>
          </a:prstGeom>
          <a:solidFill>
            <a:srgbClr val="FFFFFF"/>
          </a:solidFill>
          <a:ln w="12700">
            <a:solidFill>
              <a:srgbClr val="D5D8DE"/>
            </a:solidFill>
            <a:prstDash val="solid"/>
          </a:ln>
        </p:spPr>
      </p:sp>
      <p:sp>
        <p:nvSpPr>
          <p:cNvPr id="13" name="Text 11"/>
          <p:cNvSpPr txBox="1"/>
          <p:nvPr/>
        </p:nvSpPr>
        <p:spPr>
          <a:xfrm>
            <a:off x="8402117" y="1965960"/>
            <a:ext cx="2966618" cy="731520"/>
          </a:xfrm>
          <a:prstGeom prst="rect">
            <a:avLst/>
          </a:prstGeom>
          <a:noFill/>
          <a:ln/>
        </p:spPr>
        <p:txBody>
          <a:bodyPr wrap="square" lIns="0" tIns="0" rIns="0" bIns="0" rtlCol="0" anchor="t"/>
          <a:lstStyle/>
          <a:p>
            <a:pPr indent="0" marL="0">
              <a:buNone/>
            </a:pPr>
            <a:r>
              <a:rPr lang="en-US" sz="3600" b="1" dirty="0">
                <a:solidFill>
                  <a:srgbClr val="14213D"/>
                </a:solidFill>
              </a:rPr>
              <a:t>40 / 20</a:t>
            </a:r>
            <a:endParaRPr lang="en-US" sz="3600" dirty="0"/>
          </a:p>
        </p:txBody>
      </p:sp>
      <p:sp>
        <p:nvSpPr>
          <p:cNvPr id="14" name="Text 12"/>
          <p:cNvSpPr txBox="1"/>
          <p:nvPr/>
        </p:nvSpPr>
        <p:spPr>
          <a:xfrm>
            <a:off x="8402117" y="2743200"/>
            <a:ext cx="2966618" cy="365760"/>
          </a:xfrm>
          <a:prstGeom prst="rect">
            <a:avLst/>
          </a:prstGeom>
          <a:noFill/>
          <a:ln/>
        </p:spPr>
        <p:txBody>
          <a:bodyPr wrap="square" lIns="0" tIns="0" rIns="0" bIns="0" rtlCol="0" anchor="t"/>
          <a:lstStyle/>
          <a:p>
            <a:pPr indent="0" marL="0">
              <a:buNone/>
            </a:pPr>
            <a:r>
              <a:rPr lang="en-US" sz="1700" b="1" dirty="0">
                <a:solidFill>
                  <a:srgbClr val="14213D"/>
                </a:solidFill>
              </a:rPr>
              <a:t>Split</a:t>
            </a:r>
            <a:endParaRPr lang="en-US" sz="1700" dirty="0"/>
          </a:p>
        </p:txBody>
      </p:sp>
      <p:sp>
        <p:nvSpPr>
          <p:cNvPr id="15" name="Text 13"/>
          <p:cNvSpPr txBox="1"/>
          <p:nvPr/>
        </p:nvSpPr>
        <p:spPr>
          <a:xfrm>
            <a:off x="8402117" y="3154680"/>
            <a:ext cx="2966618" cy="1783080"/>
          </a:xfrm>
          <a:prstGeom prst="rect">
            <a:avLst/>
          </a:prstGeom>
          <a:noFill/>
          <a:ln/>
        </p:spPr>
        <p:txBody>
          <a:bodyPr wrap="square" lIns="0" tIns="0" rIns="0" bIns="0" rtlCol="0" anchor="t"/>
          <a:lstStyle/>
          <a:p>
            <a:pPr indent="0" marL="0">
              <a:buNone/>
            </a:pPr>
            <a:r>
              <a:rPr lang="en-US" sz="1400" dirty="0">
                <a:solidFill>
                  <a:srgbClr val="4A5568"/>
                </a:solidFill>
              </a:rPr>
              <a:t>Split by intent group with random seed 42: 5 support and 5 sales groups held out. A paraphrase never sits on the other side of the split from its original. Train 20+20, test 10+10.</a:t>
            </a:r>
            <a:endParaRPr lang="en-US" sz="1400" dirty="0"/>
          </a:p>
        </p:txBody>
      </p:sp>
      <p:sp>
        <p:nvSpPr>
          <p:cNvPr id="16" name="Text 14"/>
          <p:cNvSpPr txBox="1"/>
          <p:nvPr/>
        </p:nvSpPr>
        <p:spPr>
          <a:xfrm>
            <a:off x="548640" y="5257800"/>
            <a:ext cx="11094415" cy="731520"/>
          </a:xfrm>
          <a:prstGeom prst="rect">
            <a:avLst/>
          </a:prstGeom>
          <a:noFill/>
          <a:ln/>
        </p:spPr>
        <p:txBody>
          <a:bodyPr wrap="square" lIns="0" tIns="0" rIns="0" bIns="0" rtlCol="0" anchor="t"/>
          <a:lstStyle/>
          <a:p>
            <a:pPr indent="0" marL="0">
              <a:buNone/>
            </a:pPr>
            <a:r>
              <a:rPr lang="en-US" sz="1500" dirty="0">
                <a:solidFill>
                  <a:srgbClr val="4A5568"/>
                </a:solidFill>
              </a:rPr>
              <a:t>Hard cases on purpose: </a:t>
            </a:r>
            <a:pPr indent="0" marL="0">
              <a:buNone/>
            </a:pPr>
            <a:r>
              <a:rPr lang="en-US" sz="1500" b="1" dirty="0">
                <a:solidFill>
                  <a:srgbClr val="4A5568"/>
                </a:solidFill>
              </a:rPr>
              <a:t>negation</a:t>
            </a:r>
            <a:pPr indent="0" marL="0">
              <a:buNone/>
            </a:pPr>
            <a:r>
              <a:rPr lang="en-US" sz="1500" dirty="0">
                <a:solidFill>
                  <a:srgbClr val="4A5568"/>
                </a:solidFill>
              </a:rPr>
              <a:t> (“No issues with our robots, we want a third cell”), </a:t>
            </a:r>
            <a:pPr indent="0" marL="0">
              <a:buNone/>
            </a:pPr>
            <a:r>
              <a:rPr lang="en-US" sz="1500" b="1" dirty="0">
                <a:solidFill>
                  <a:srgbClr val="4A5568"/>
                </a:solidFill>
              </a:rPr>
              <a:t>mixed intent</a:t>
            </a:r>
            <a:pPr indent="0" marL="0">
              <a:buNone/>
            </a:pPr>
            <a:r>
              <a:rPr lang="en-US" sz="1500" dirty="0">
                <a:solidFill>
                  <a:srgbClr val="4A5568"/>
                </a:solidFill>
              </a:rPr>
              <a:t> (4 messages), and an </a:t>
            </a:r>
            <a:pPr indent="0" marL="0">
              <a:buNone/>
            </a:pPr>
            <a:r>
              <a:rPr lang="en-US" sz="1500" b="1" dirty="0">
                <a:solidFill>
                  <a:srgbClr val="4A5568"/>
                </a:solidFill>
              </a:rPr>
              <a:t>existing order that is late</a:t>
            </a:r>
            <a:pPr indent="0" marL="0">
              <a:buNone/>
            </a:pPr>
            <a:r>
              <a:rPr lang="en-US" sz="1500" dirty="0">
                <a:solidFill>
                  <a:srgbClr val="4A5568"/>
                </a:solidFill>
              </a:rPr>
              <a:t> (purchase words, but it is support).</a:t>
            </a:r>
            <a:endParaRPr lang="en-US" sz="1500" dirty="0"/>
          </a:p>
        </p:txBody>
      </p:sp>
      <p:sp>
        <p:nvSpPr>
          <p:cNvPr id="17" name="Text 15"/>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Ahmed · Dataset · kio_routing_dataset.csv</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SAMPLE ROWS</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Six rows from kio_routing_dataset.csv</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731520"/>
                <a:gridCol w="6583680"/>
                <a:gridCol w="1234440"/>
                <a:gridCol w="1463040"/>
                <a:gridCol w="1078992"/>
              </a:tblGrid>
              <a:tr h="0">
                <a:tc>
                  <a:txBody>
                    <a:bodyPr/>
                    <a:lstStyle/>
                    <a:p>
                      <a:pPr indent="0" marL="0">
                        <a:buNone/>
                      </a:pPr>
                      <a:r>
                        <a:rPr lang="en-US" sz="1600" b="1" dirty="0">
                          <a:solidFill>
                            <a:srgbClr val="14213D"/>
                          </a:solidFill>
                        </a:rPr>
                        <a:t>ID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Message</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Label</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Case</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Split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r>
              <a:tr h="0">
                <a:tc>
                  <a:txBody>
                    <a:bodyPr/>
                    <a:lstStyle/>
                    <a:p>
                      <a:pPr indent="0" marL="0">
                        <a:buNone/>
                      </a:pPr>
                      <a:r>
                        <a:rPr lang="en-US" sz="1600" dirty="0">
                          <a:solidFill>
                            <a:srgbClr val="14213D"/>
                          </a:solidFill>
                        </a:rPr>
                        <a:t>M01</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Our CNC lathe stopped mid-cycle and shows spindle alarm 2031, please help.</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0 support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paraphrase</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test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4213D"/>
                          </a:solidFill>
                        </a:rPr>
                        <a:t>M05</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I don’t want to buy a new compressor, I need the one we have repaired.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0 support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negation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train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r h="0">
                <a:tc>
                  <a:txBody>
                    <a:bodyPr/>
                    <a:lstStyle/>
                    <a:p>
                      <a:pPr indent="0" marL="0">
                        <a:buNone/>
                      </a:pPr>
                      <a:r>
                        <a:rPr lang="en-US" sz="1600" dirty="0">
                          <a:solidFill>
                            <a:srgbClr val="14213D"/>
                          </a:solidFill>
                        </a:rPr>
                        <a:t>M08</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Before we talk about buying more robots, the welding robot we bought is misaligning every weld.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0 support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mixed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train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4213D"/>
                          </a:solidFill>
                        </a:rPr>
                        <a:t>M21</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We already ordered the packaging line, but delivery is two weeks late — where is it?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0 support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existing order</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train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r h="0">
                <a:tc>
                  <a:txBody>
                    <a:bodyPr/>
                    <a:lstStyle/>
                    <a:p>
                      <a:pPr indent="0" marL="0">
                        <a:buNone/>
                      </a:pPr>
                      <a:r>
                        <a:rPr lang="en-US" sz="1600" dirty="0">
                          <a:solidFill>
                            <a:srgbClr val="14213D"/>
                          </a:solidFill>
                        </a:rPr>
                        <a:t>M35</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No issues with our current robots; we want to add a third cell.</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1 sales</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negation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train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4213D"/>
                          </a:solidFill>
                        </a:rPr>
                        <a:t>M55</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Can your team quote a turnkey packaging line for 120 packs per minute?</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1 sales</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paraphrase</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test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Ahmed · Dataset · Columns: id, message, label, label_name, group_id, case_type, split</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TWO APPROACHES, ONE FLAG</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Learned from examples vs. told by instructions</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361688"/>
                <a:gridCol w="4352544"/>
              </a:tblGrid>
              <a:tr h="0">
                <a:tc>
                  <a:txBody>
                    <a:bodyPr/>
                    <a:lstStyle/>
                    <a:p>
                      <a:pPr indent="0" marL="0">
                        <a:buNone/>
                      </a:pP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700" b="1" dirty="0">
                          <a:solidFill>
                            <a:srgbClr val="14213D"/>
                          </a:solidFill>
                        </a:rPr>
                        <a:t>Trained ML classifier</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700" b="1" dirty="0">
                          <a:solidFill>
                            <a:srgbClr val="14213D"/>
                          </a:solidFill>
                        </a:rPr>
                        <a:t>Decision model (Jev or similar)</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r>
              <a:tr h="0">
                <a:tc>
                  <a:txBody>
                    <a:bodyPr/>
                    <a:lstStyle/>
                    <a:p>
                      <a:pPr indent="0" marL="0">
                        <a:buNone/>
                      </a:pPr>
                      <a:r>
                        <a:rPr lang="en-US" sz="1700" b="1" dirty="0">
                          <a:solidFill>
                            <a:srgbClr val="14213D"/>
                          </a:solidFill>
                        </a:rPr>
                        <a:t>Learns from</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Our 40 labeled training messages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Pre-trained on large text; no training by us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4213D"/>
                          </a:solidFill>
                        </a:rPr>
                        <a:t>Input</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2 numbers per message (cue scores)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Raw message + routing instructions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r h="0">
                <a:tc>
                  <a:txBody>
                    <a:bodyPr/>
                    <a:lstStyle/>
                    <a:p>
                      <a:pPr indent="0" marL="0">
                        <a:buNone/>
                      </a:pPr>
                      <a:r>
                        <a:rPr lang="en-US" sz="1700" b="1" dirty="0">
                          <a:solidFill>
                            <a:srgbClr val="14213D"/>
                          </a:solidFill>
                        </a:rPr>
                        <a:t>Output</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Probability of sales → flag 0 / 1</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customer_service or sales → flag 0 / 1</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4213D"/>
                          </a:solidFill>
                        </a:rPr>
                        <a:t>Changing a rule</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Relabel data and retrain</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Edit one sentence of instructions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r h="0">
                <a:tc>
                  <a:txBody>
                    <a:bodyPr/>
                    <a:lstStyle/>
                    <a:p>
                      <a:pPr indent="0" marL="0">
                        <a:buNone/>
                      </a:pPr>
                      <a:r>
                        <a:rPr lang="en-US" sz="1700" b="1" dirty="0">
                          <a:solidFill>
                            <a:srgbClr val="14213D"/>
                          </a:solidFill>
                        </a:rPr>
                        <a:t>Runs</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Locally, in milliseconds, free</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700" dirty="0">
                          <a:solidFill>
                            <a:srgbClr val="14213D"/>
                          </a:solidFill>
                        </a:rPr>
                        <a:t>Through an API: paid per token, needs network</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4213D"/>
                          </a:solidFill>
                        </a:rPr>
                        <a:t>Explains itself by</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Its decision boundary (shown later)</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700" dirty="0">
                          <a:solidFill>
                            <a:srgbClr val="14213D"/>
                          </a:solidFill>
                        </a:rPr>
                        <a:t>Option probabilities and a confidence value</a:t>
                      </a:r>
                      <a:endParaRPr lang="en-US" sz="17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Ahmed · Concept · Hand over to Moaaz</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B8451B"/>
                </a:solidFill>
                <a:latin typeface="Courier New" pitchFamily="34" charset="0"/>
                <a:ea typeface="Courier New" pitchFamily="34" charset="-122"/>
                <a:cs typeface="Courier New" pitchFamily="34" charset="-120"/>
              </a:rPr>
              <a:t>DECISION MODEL · SETUP</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Same question, asked through instructions</a:t>
            </a:r>
            <a:endParaRPr lang="en-US" sz="3400" dirty="0"/>
          </a:p>
        </p:txBody>
      </p:sp>
      <p:sp>
        <p:nvSpPr>
          <p:cNvPr id="4" name="Shape 2"/>
          <p:cNvSpPr/>
          <p:nvPr/>
        </p:nvSpPr>
        <p:spPr>
          <a:xfrm>
            <a:off x="548640" y="1783080"/>
            <a:ext cx="5669280" cy="4297680"/>
          </a:xfrm>
          <a:prstGeom prst="roundRect">
            <a:avLst>
              <a:gd name="adj" fmla="val 2553"/>
            </a:avLst>
          </a:prstGeom>
          <a:solidFill>
            <a:srgbClr val="14213D"/>
          </a:solidFill>
          <a:ln w="12700">
            <a:solidFill>
              <a:srgbClr val="14213D"/>
            </a:solidFill>
            <a:prstDash val="solid"/>
          </a:ln>
        </p:spPr>
      </p:sp>
      <p:sp>
        <p:nvSpPr>
          <p:cNvPr id="5" name="Text 3"/>
          <p:cNvSpPr txBox="1"/>
          <p:nvPr/>
        </p:nvSpPr>
        <p:spPr>
          <a:xfrm>
            <a:off x="868680" y="2011680"/>
            <a:ext cx="5029200" cy="3840480"/>
          </a:xfrm>
          <a:prstGeom prst="rect">
            <a:avLst/>
          </a:prstGeom>
          <a:noFill/>
          <a:ln/>
        </p:spPr>
        <p:txBody>
          <a:bodyPr wrap="square" lIns="0" tIns="0" rIns="0" bIns="0" rtlCol="0" anchor="t"/>
          <a:lstStyle/>
          <a:p>
            <a:pPr indent="0" marL="0">
              <a:buNone/>
            </a:pPr>
            <a:r>
              <a:rPr lang="en-US" sz="1400" dirty="0">
                <a:solidFill>
                  <a:srgbClr val="8FB8EE"/>
                </a:solidFill>
                <a:latin typeface="Courier New" pitchFamily="34" charset="0"/>
                <a:ea typeface="Courier New" pitchFamily="34" charset="-122"/>
                <a:cs typeface="Courier New" pitchFamily="34" charset="-120"/>
              </a:rPr>
              <a:t>routing instructions + options</a:t>
            </a:r>
            <a:endParaRPr lang="en-US" sz="1400" dirty="0"/>
          </a:p>
          <a:p>
            <a:pPr indent="0" marL="0">
              <a:buNone/>
            </a:pPr>
            <a:r>
              <a:rPr lang="en-US" sz="1400" dirty="0">
                <a:solidFill>
                  <a:srgbClr val="4A5568"/>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7F6F2"/>
                </a:solidFill>
                <a:latin typeface="Courier New" pitchFamily="34" charset="0"/>
                <a:ea typeface="Courier New" pitchFamily="34" charset="-122"/>
                <a:cs typeface="Courier New" pitchFamily="34" charset="-120"/>
              </a:rPr>
              <a:t>customer_service: a problem with something they ALREADY have — fault, late order, billing, warranty, missed visit</a:t>
            </a:r>
            <a:endParaRPr lang="en-US" sz="1400" dirty="0"/>
          </a:p>
          <a:p>
            <a:pPr indent="0" marL="0">
              <a:buNone/>
            </a:pPr>
            <a:r>
              <a:rPr lang="en-US" sz="1400" dirty="0">
                <a:solidFill>
                  <a:srgbClr val="4A5568"/>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7F6F2"/>
                </a:solidFill>
                <a:latin typeface="Courier New" pitchFamily="34" charset="0"/>
                <a:ea typeface="Courier New" pitchFamily="34" charset="-122"/>
                <a:cs typeface="Courier New" pitchFamily="34" charset="-120"/>
              </a:rPr>
              <a:t>sales: wants to BUY something new — quote, package, upgrade, demo, leasing</a:t>
            </a:r>
            <a:endParaRPr lang="en-US" sz="1400" dirty="0"/>
          </a:p>
          <a:p>
            <a:pPr indent="0" marL="0">
              <a:buNone/>
            </a:pPr>
            <a:r>
              <a:rPr lang="en-US" sz="1400" dirty="0">
                <a:solidFill>
                  <a:srgbClr val="4A5568"/>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5A27F"/>
                </a:solidFill>
                <a:latin typeface="Courier New" pitchFamily="34" charset="0"/>
                <a:ea typeface="Courier New" pitchFamily="34" charset="-122"/>
                <a:cs typeface="Courier New" pitchFamily="34" charset="-120"/>
              </a:rPr>
              <a:t>If BOTH: choose customer_service. Negations matter.</a:t>
            </a:r>
            <a:endParaRPr lang="en-US" sz="1400" dirty="0"/>
          </a:p>
        </p:txBody>
      </p:sp>
      <p:sp>
        <p:nvSpPr>
          <p:cNvPr id="6" name="Text 4"/>
          <p:cNvSpPr txBox="1"/>
          <p:nvPr/>
        </p:nvSpPr>
        <p:spPr>
          <a:xfrm>
            <a:off x="6583680" y="1783080"/>
            <a:ext cx="5029200" cy="365760"/>
          </a:xfrm>
          <a:prstGeom prst="rect">
            <a:avLst/>
          </a:prstGeom>
          <a:noFill/>
          <a:ln/>
        </p:spPr>
        <p:txBody>
          <a:bodyPr wrap="square" lIns="0" tIns="0" rIns="0" bIns="0" rtlCol="0" anchor="t"/>
          <a:lstStyle/>
          <a:p>
            <a:pPr indent="0" marL="0">
              <a:buNone/>
            </a:pPr>
            <a:r>
              <a:rPr lang="en-US" sz="1700" b="1" dirty="0">
                <a:solidFill>
                  <a:srgbClr val="14213D"/>
                </a:solidFill>
              </a:rPr>
              <a:t>Model we ran</a:t>
            </a:r>
            <a:endParaRPr lang="en-US" sz="1700" dirty="0"/>
          </a:p>
        </p:txBody>
      </p:sp>
      <p:sp>
        <p:nvSpPr>
          <p:cNvPr id="7" name="Text 5"/>
          <p:cNvSpPr txBox="1"/>
          <p:nvPr/>
        </p:nvSpPr>
        <p:spPr>
          <a:xfrm>
            <a:off x="6583680" y="2194560"/>
            <a:ext cx="5029200" cy="960120"/>
          </a:xfrm>
          <a:prstGeom prst="rect">
            <a:avLst/>
          </a:prstGeom>
          <a:noFill/>
          <a:ln/>
        </p:spPr>
        <p:txBody>
          <a:bodyPr wrap="square" lIns="0" tIns="0" rIns="0" bIns="0" rtlCol="0" anchor="t"/>
          <a:lstStyle/>
          <a:p>
            <a:pPr indent="0" marL="0">
              <a:buNone/>
            </a:pPr>
            <a:r>
              <a:rPr lang="en-US" sz="1400" dirty="0">
                <a:solidFill>
                  <a:srgbClr val="4A5568"/>
                </a:solidFill>
              </a:rPr>
              <a:t>Claude (Anthropic, claude-opus-5-5), one message per request, answer must be one option name. Closed model, used under Anthropic’s terms.</a:t>
            </a:r>
            <a:endParaRPr lang="en-US" sz="1400" dirty="0"/>
          </a:p>
        </p:txBody>
      </p:sp>
      <p:sp>
        <p:nvSpPr>
          <p:cNvPr id="8" name="Text 6"/>
          <p:cNvSpPr txBox="1"/>
          <p:nvPr/>
        </p:nvSpPr>
        <p:spPr>
          <a:xfrm>
            <a:off x="6583680" y="3246120"/>
            <a:ext cx="5029200" cy="365760"/>
          </a:xfrm>
          <a:prstGeom prst="rect">
            <a:avLst/>
          </a:prstGeom>
          <a:noFill/>
          <a:ln/>
        </p:spPr>
        <p:txBody>
          <a:bodyPr wrap="square" lIns="0" tIns="0" rIns="0" bIns="0" rtlCol="0" anchor="t"/>
          <a:lstStyle/>
          <a:p>
            <a:pPr indent="0" marL="0">
              <a:buNone/>
            </a:pPr>
            <a:r>
              <a:rPr lang="en-US" sz="1700" b="1" dirty="0">
                <a:solidFill>
                  <a:srgbClr val="14213D"/>
                </a:solidFill>
              </a:rPr>
              <a:t>Jev, ready but not run</a:t>
            </a:r>
            <a:endParaRPr lang="en-US" sz="1700" dirty="0"/>
          </a:p>
        </p:txBody>
      </p:sp>
      <p:sp>
        <p:nvSpPr>
          <p:cNvPr id="9" name="Text 7"/>
          <p:cNvSpPr txBox="1"/>
          <p:nvPr/>
        </p:nvSpPr>
        <p:spPr>
          <a:xfrm>
            <a:off x="6583680" y="3657600"/>
            <a:ext cx="5029200" cy="960120"/>
          </a:xfrm>
          <a:prstGeom prst="rect">
            <a:avLst/>
          </a:prstGeom>
          <a:noFill/>
          <a:ln/>
        </p:spPr>
        <p:txBody>
          <a:bodyPr wrap="square" lIns="0" tIns="0" rIns="0" bIns="0" rtlCol="0" anchor="t"/>
          <a:lstStyle/>
          <a:p>
            <a:pPr indent="0" marL="0">
              <a:buNone/>
            </a:pPr>
            <a:r>
              <a:rPr lang="en-US" sz="1400" dirty="0">
                <a:solidFill>
                  <a:srgbClr val="4A5568"/>
                </a:solidFill>
              </a:rPr>
              <a:t>Same instructions as a Jev Choice question in decision_router.py. Needs a paid TypeSafe key ($0.042 per million input tokens).</a:t>
            </a:r>
            <a:endParaRPr lang="en-US" sz="1400" dirty="0"/>
          </a:p>
        </p:txBody>
      </p:sp>
      <p:sp>
        <p:nvSpPr>
          <p:cNvPr id="10" name="Text 8"/>
          <p:cNvSpPr txBox="1"/>
          <p:nvPr/>
        </p:nvSpPr>
        <p:spPr>
          <a:xfrm>
            <a:off x="6583680" y="4709160"/>
            <a:ext cx="5029200" cy="365760"/>
          </a:xfrm>
          <a:prstGeom prst="rect">
            <a:avLst/>
          </a:prstGeom>
          <a:noFill/>
          <a:ln/>
        </p:spPr>
        <p:txBody>
          <a:bodyPr wrap="square" lIns="0" tIns="0" rIns="0" bIns="0" rtlCol="0" anchor="t"/>
          <a:lstStyle/>
          <a:p>
            <a:pPr indent="0" marL="0">
              <a:buNone/>
            </a:pPr>
            <a:r>
              <a:rPr lang="en-US" sz="1700" b="1" dirty="0">
                <a:solidFill>
                  <a:srgbClr val="14213D"/>
                </a:solidFill>
              </a:rPr>
              <a:t>Output validation</a:t>
            </a:r>
            <a:endParaRPr lang="en-US" sz="1700" dirty="0"/>
          </a:p>
        </p:txBody>
      </p:sp>
      <p:sp>
        <p:nvSpPr>
          <p:cNvPr id="11" name="Text 9"/>
          <p:cNvSpPr txBox="1"/>
          <p:nvPr/>
        </p:nvSpPr>
        <p:spPr>
          <a:xfrm>
            <a:off x="6583680" y="5120640"/>
            <a:ext cx="5029200" cy="960120"/>
          </a:xfrm>
          <a:prstGeom prst="rect">
            <a:avLst/>
          </a:prstGeom>
          <a:noFill/>
          <a:ln/>
        </p:spPr>
        <p:txBody>
          <a:bodyPr wrap="square" lIns="0" tIns="0" rIns="0" bIns="0" rtlCol="0" anchor="t"/>
          <a:lstStyle/>
          <a:p>
            <a:pPr indent="0" marL="0">
              <a:buNone/>
            </a:pPr>
            <a:r>
              <a:rPr lang="en-US" sz="1400" dirty="0">
                <a:solidFill>
                  <a:srgbClr val="4A5568"/>
                </a:solidFill>
              </a:rPr>
              <a:t>Anything that isn’t exactly one of the two options is rejected and falls back to support, the safe default.</a:t>
            </a:r>
            <a:endParaRPr lang="en-US" sz="1400" dirty="0"/>
          </a:p>
        </p:txBody>
      </p:sp>
      <p:sp>
        <p:nvSpPr>
          <p:cNvPr id="12" name="Text 10"/>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Moaaz · Decision model</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B8451B"/>
                </a:solidFill>
                <a:latin typeface="Courier New" pitchFamily="34" charset="0"/>
                <a:ea typeface="Courier New" pitchFamily="34" charset="-122"/>
                <a:cs typeface="Courier New" pitchFamily="34" charset="-120"/>
              </a:rPr>
              <a:t>DECISION MODEL · RESULTS</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Every route correct, including the tricky ones</a:t>
            </a:r>
            <a:endParaRPr lang="en-US" sz="3400" dirty="0"/>
          </a:p>
        </p:txBody>
      </p:sp>
      <p:sp>
        <p:nvSpPr>
          <p:cNvPr id="4" name="Shape 2"/>
          <p:cNvSpPr/>
          <p:nvPr/>
        </p:nvSpPr>
        <p:spPr>
          <a:xfrm>
            <a:off x="548640" y="1691640"/>
            <a:ext cx="3515258" cy="1325880"/>
          </a:xfrm>
          <a:prstGeom prst="roundRect">
            <a:avLst>
              <a:gd name="adj" fmla="val 8276"/>
            </a:avLst>
          </a:prstGeom>
          <a:solidFill>
            <a:srgbClr val="FFFFFF"/>
          </a:solidFill>
          <a:ln w="12700">
            <a:solidFill>
              <a:srgbClr val="D5D8DE"/>
            </a:solidFill>
            <a:prstDash val="solid"/>
          </a:ln>
        </p:spPr>
      </p:sp>
      <p:sp>
        <p:nvSpPr>
          <p:cNvPr id="5" name="Text 3"/>
          <p:cNvSpPr txBox="1"/>
          <p:nvPr/>
        </p:nvSpPr>
        <p:spPr>
          <a:xfrm>
            <a:off x="822960" y="1783080"/>
            <a:ext cx="2966618" cy="685800"/>
          </a:xfrm>
          <a:prstGeom prst="rect">
            <a:avLst/>
          </a:prstGeom>
          <a:noFill/>
          <a:ln/>
        </p:spPr>
        <p:txBody>
          <a:bodyPr wrap="square" lIns="0" tIns="0" rIns="0" bIns="0" rtlCol="0" anchor="t"/>
          <a:lstStyle/>
          <a:p>
            <a:pPr indent="0" marL="0">
              <a:buNone/>
            </a:pPr>
            <a:r>
              <a:rPr lang="en-US" sz="3600" b="1" dirty="0">
                <a:solidFill>
                  <a:srgbClr val="14213D"/>
                </a:solidFill>
              </a:rPr>
              <a:t>20/20</a:t>
            </a:r>
            <a:endParaRPr lang="en-US" sz="3600" dirty="0"/>
          </a:p>
        </p:txBody>
      </p:sp>
      <p:sp>
        <p:nvSpPr>
          <p:cNvPr id="6" name="Text 4"/>
          <p:cNvSpPr txBox="1"/>
          <p:nvPr/>
        </p:nvSpPr>
        <p:spPr>
          <a:xfrm>
            <a:off x="822960" y="2514600"/>
            <a:ext cx="2966618" cy="365760"/>
          </a:xfrm>
          <a:prstGeom prst="rect">
            <a:avLst/>
          </a:prstGeom>
          <a:noFill/>
          <a:ln/>
        </p:spPr>
        <p:txBody>
          <a:bodyPr wrap="square" lIns="0" tIns="0" rIns="0" bIns="0" rtlCol="0" anchor="t"/>
          <a:lstStyle/>
          <a:p>
            <a:pPr indent="0" marL="0">
              <a:buNone/>
            </a:pPr>
            <a:r>
              <a:rPr lang="en-US" sz="1400" dirty="0">
                <a:solidFill>
                  <a:srgbClr val="4A5568"/>
                </a:solidFill>
              </a:rPr>
              <a:t>test set</a:t>
            </a:r>
            <a:endParaRPr lang="en-US" sz="1400" dirty="0"/>
          </a:p>
        </p:txBody>
      </p:sp>
      <p:sp>
        <p:nvSpPr>
          <p:cNvPr id="7" name="Shape 5"/>
          <p:cNvSpPr/>
          <p:nvPr/>
        </p:nvSpPr>
        <p:spPr>
          <a:xfrm>
            <a:off x="4338218" y="1691640"/>
            <a:ext cx="3515258" cy="1325880"/>
          </a:xfrm>
          <a:prstGeom prst="roundRect">
            <a:avLst>
              <a:gd name="adj" fmla="val 8276"/>
            </a:avLst>
          </a:prstGeom>
          <a:solidFill>
            <a:srgbClr val="FFFFFF"/>
          </a:solidFill>
          <a:ln w="12700">
            <a:solidFill>
              <a:srgbClr val="D5D8DE"/>
            </a:solidFill>
            <a:prstDash val="solid"/>
          </a:ln>
        </p:spPr>
      </p:sp>
      <p:sp>
        <p:nvSpPr>
          <p:cNvPr id="8" name="Text 6"/>
          <p:cNvSpPr txBox="1"/>
          <p:nvPr/>
        </p:nvSpPr>
        <p:spPr>
          <a:xfrm>
            <a:off x="4612538" y="1783080"/>
            <a:ext cx="2966618" cy="685800"/>
          </a:xfrm>
          <a:prstGeom prst="rect">
            <a:avLst/>
          </a:prstGeom>
          <a:noFill/>
          <a:ln/>
        </p:spPr>
        <p:txBody>
          <a:bodyPr wrap="square" lIns="0" tIns="0" rIns="0" bIns="0" rtlCol="0" anchor="t"/>
          <a:lstStyle/>
          <a:p>
            <a:pPr indent="0" marL="0">
              <a:buNone/>
            </a:pPr>
            <a:r>
              <a:rPr lang="en-US" sz="3600" b="1" dirty="0">
                <a:solidFill>
                  <a:srgbClr val="14213D"/>
                </a:solidFill>
              </a:rPr>
              <a:t>4/4</a:t>
            </a:r>
            <a:endParaRPr lang="en-US" sz="3600" dirty="0"/>
          </a:p>
        </p:txBody>
      </p:sp>
      <p:sp>
        <p:nvSpPr>
          <p:cNvPr id="9" name="Text 7"/>
          <p:cNvSpPr txBox="1"/>
          <p:nvPr/>
        </p:nvSpPr>
        <p:spPr>
          <a:xfrm>
            <a:off x="4612538" y="2514600"/>
            <a:ext cx="2966618" cy="365760"/>
          </a:xfrm>
          <a:prstGeom prst="rect">
            <a:avLst/>
          </a:prstGeom>
          <a:noFill/>
          <a:ln/>
        </p:spPr>
        <p:txBody>
          <a:bodyPr wrap="square" lIns="0" tIns="0" rIns="0" bIns="0" rtlCol="0" anchor="t"/>
          <a:lstStyle/>
          <a:p>
            <a:pPr indent="0" marL="0">
              <a:buNone/>
            </a:pPr>
            <a:r>
              <a:rPr lang="en-US" sz="1400" dirty="0">
                <a:solidFill>
                  <a:srgbClr val="4A5568"/>
                </a:solidFill>
              </a:rPr>
              <a:t>mixed-intent messages</a:t>
            </a:r>
            <a:endParaRPr lang="en-US" sz="1400" dirty="0"/>
          </a:p>
        </p:txBody>
      </p:sp>
      <p:sp>
        <p:nvSpPr>
          <p:cNvPr id="10" name="Shape 8"/>
          <p:cNvSpPr/>
          <p:nvPr/>
        </p:nvSpPr>
        <p:spPr>
          <a:xfrm>
            <a:off x="8127797" y="1691640"/>
            <a:ext cx="3515258" cy="1325880"/>
          </a:xfrm>
          <a:prstGeom prst="roundRect">
            <a:avLst>
              <a:gd name="adj" fmla="val 8276"/>
            </a:avLst>
          </a:prstGeom>
          <a:solidFill>
            <a:srgbClr val="FFFFFF"/>
          </a:solidFill>
          <a:ln w="12700">
            <a:solidFill>
              <a:srgbClr val="D5D8DE"/>
            </a:solidFill>
            <a:prstDash val="solid"/>
          </a:ln>
        </p:spPr>
      </p:sp>
      <p:sp>
        <p:nvSpPr>
          <p:cNvPr id="11" name="Text 9"/>
          <p:cNvSpPr txBox="1"/>
          <p:nvPr/>
        </p:nvSpPr>
        <p:spPr>
          <a:xfrm>
            <a:off x="8402117" y="1783080"/>
            <a:ext cx="2966618" cy="685800"/>
          </a:xfrm>
          <a:prstGeom prst="rect">
            <a:avLst/>
          </a:prstGeom>
          <a:noFill/>
          <a:ln/>
        </p:spPr>
        <p:txBody>
          <a:bodyPr wrap="square" lIns="0" tIns="0" rIns="0" bIns="0" rtlCol="0" anchor="t"/>
          <a:lstStyle/>
          <a:p>
            <a:pPr indent="0" marL="0">
              <a:buNone/>
            </a:pPr>
            <a:r>
              <a:rPr lang="en-US" sz="3600" b="1" dirty="0">
                <a:solidFill>
                  <a:srgbClr val="14213D"/>
                </a:solidFill>
              </a:rPr>
              <a:t>8/8</a:t>
            </a:r>
            <a:endParaRPr lang="en-US" sz="3600" dirty="0"/>
          </a:p>
        </p:txBody>
      </p:sp>
      <p:sp>
        <p:nvSpPr>
          <p:cNvPr id="12" name="Text 10"/>
          <p:cNvSpPr txBox="1"/>
          <p:nvPr/>
        </p:nvSpPr>
        <p:spPr>
          <a:xfrm>
            <a:off x="8402117" y="2514600"/>
            <a:ext cx="2966618" cy="365760"/>
          </a:xfrm>
          <a:prstGeom prst="rect">
            <a:avLst/>
          </a:prstGeom>
          <a:noFill/>
          <a:ln/>
        </p:spPr>
        <p:txBody>
          <a:bodyPr wrap="square" lIns="0" tIns="0" rIns="0" bIns="0" rtlCol="0" anchor="t"/>
          <a:lstStyle/>
          <a:p>
            <a:pPr indent="0" marL="0">
              <a:buNone/>
            </a:pPr>
            <a:r>
              <a:rPr lang="en-US" sz="1400" dirty="0">
                <a:solidFill>
                  <a:srgbClr val="4A5568"/>
                </a:solidFill>
              </a:rPr>
              <a:t>new hard messages outside the dataset</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6675120"/>
                <a:gridCol w="2377440"/>
                <a:gridCol w="2039112"/>
              </a:tblGrid>
              <a:tr h="0">
                <a:tc>
                  <a:txBody>
                    <a:bodyPr/>
                    <a:lstStyle/>
                    <a:p>
                      <a:pPr indent="0" marL="0">
                        <a:buNone/>
                      </a:pPr>
                      <a:r>
                        <a:rPr lang="en-US" sz="1600" b="1" dirty="0">
                          <a:solidFill>
                            <a:srgbClr val="14213D"/>
                          </a:solidFill>
                        </a:rPr>
                        <a:t>Hard message (not in the 60)</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Decision model</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c>
                  <a:txBody>
                    <a:bodyPr/>
                    <a:lstStyle/>
                    <a:p>
                      <a:pPr indent="0" marL="0">
                        <a:buNone/>
                      </a:pPr>
                      <a:r>
                        <a:rPr lang="en-US" sz="1600" b="1" dirty="0">
                          <a:solidFill>
                            <a:srgbClr val="14213D"/>
                          </a:solidFill>
                        </a:rPr>
                        <a:t>Why it is hard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4E8EE"/>
                    </a:solidFill>
                  </a:tcPr>
                </a:tc>
              </a:tr>
              <a:tr h="0">
                <a:tc>
                  <a:txBody>
                    <a:bodyPr/>
                    <a:lstStyle/>
                    <a:p>
                      <a:pPr indent="0" marL="0">
                        <a:buNone/>
                      </a:pPr>
                      <a:r>
                        <a:rPr lang="en-US" sz="1600" dirty="0">
                          <a:solidFill>
                            <a:srgbClr val="14213D"/>
                          </a:solidFill>
                        </a:rPr>
                        <a:t>Your quote said 4 weeks, but the CNC we bought in July still isn’t commissioned.</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customer_service → 0</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“quote”, “bought”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4213D"/>
                          </a:solidFill>
                        </a:rPr>
                        <a:t>We can’t decide between your two compressors — which one is cheaper to run?</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sales → 1</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c>
                  <a:txBody>
                    <a:bodyPr/>
                    <a:lstStyle/>
                    <a:p>
                      <a:pPr indent="0" marL="0">
                        <a:buNone/>
                      </a:pPr>
                      <a:r>
                        <a:rPr lang="en-US" sz="1600" dirty="0">
                          <a:solidFill>
                            <a:srgbClr val="14213D"/>
                          </a:solidFill>
                        </a:rPr>
                        <a:t>“can’t”</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EEF0F3"/>
                    </a:solidFill>
                  </a:tcPr>
                </a:tc>
              </a:tr>
              <a:tr h="0">
                <a:tc>
                  <a:txBody>
                    <a:bodyPr/>
                    <a:lstStyle/>
                    <a:p>
                      <a:pPr indent="0" marL="0">
                        <a:buNone/>
                      </a:pPr>
                      <a:r>
                        <a:rPr lang="en-US" sz="1600" dirty="0">
                          <a:solidFill>
                            <a:srgbClr val="14213D"/>
                          </a:solidFill>
                        </a:rPr>
                        <a:t>Please quote the repair cost for our damaged gearbox.</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customer_service → 0</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“quote” + repair</a:t>
                      </a:r>
                      <a:endParaRPr lang="en-US" sz="1600" dirty="0"/>
                    </a:p>
                  </a:txBody>
                  <a:tcPr marL="91440" marR="91440" marT="91440" marB="91440" anchor="ctr">
                    <a:lnL w="9525" cap="flat" cmpd="sng" algn="ctr">
                      <a:solidFill>
                        <a:srgbClr val="D5D8DE"/>
                      </a:solidFill>
                      <a:prstDash val="solid"/>
                      <a:round/>
                      <a:headEnd type="none" w="med" len="med"/>
                      <a:tailEnd type="none" w="med" len="med"/>
                    </a:lnL>
                    <a:lnR w="9525" cap="flat" cmpd="sng" algn="ctr">
                      <a:solidFill>
                        <a:srgbClr val="D5D8DE"/>
                      </a:solidFill>
                      <a:prstDash val="solid"/>
                      <a:round/>
                      <a:headEnd type="none" w="med" len="med"/>
                      <a:tailEnd type="none" w="med" len="med"/>
                    </a:lnR>
                    <a:lnT w="9525" cap="flat" cmpd="sng" algn="ctr">
                      <a:solidFill>
                        <a:srgbClr val="D5D8DE"/>
                      </a:solidFill>
                      <a:prstDash val="solid"/>
                      <a:round/>
                      <a:headEnd type="none" w="med" len="med"/>
                      <a:tailEnd type="none" w="med" len="med"/>
                    </a:lnT>
                    <a:lnB w="9525" cap="flat" cmpd="sng" algn="ctr">
                      <a:solidFill>
                        <a:srgbClr val="D5D8DE"/>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Moaaz · Decision model · Saved outputs: decision_outputs.json</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B8451B"/>
                </a:solidFill>
                <a:latin typeface="Courier New" pitchFamily="34" charset="0"/>
                <a:ea typeface="Courier New" pitchFamily="34" charset="-122"/>
                <a:cs typeface="Courier New" pitchFamily="34" charset="-120"/>
              </a:rPr>
              <a:t>DECISION MODEL · WHAT THE RESULT DOES AND DOESN’T SHOW</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A perfect score with honest caveats</a:t>
            </a:r>
            <a:endParaRPr lang="en-US" sz="3400" dirty="0"/>
          </a:p>
        </p:txBody>
      </p:sp>
      <p:sp>
        <p:nvSpPr>
          <p:cNvPr id="4" name="Shape 2"/>
          <p:cNvSpPr/>
          <p:nvPr/>
        </p:nvSpPr>
        <p:spPr>
          <a:xfrm>
            <a:off x="548640" y="1783080"/>
            <a:ext cx="5410048" cy="3017520"/>
          </a:xfrm>
          <a:prstGeom prst="roundRect">
            <a:avLst>
              <a:gd name="adj" fmla="val 3636"/>
            </a:avLst>
          </a:prstGeom>
          <a:solidFill>
            <a:srgbClr val="FFFFFF"/>
          </a:solidFill>
          <a:ln w="12700">
            <a:solidFill>
              <a:srgbClr val="D5D8DE"/>
            </a:solidFill>
            <a:prstDash val="solid"/>
          </a:ln>
        </p:spPr>
      </p:sp>
      <p:sp>
        <p:nvSpPr>
          <p:cNvPr id="5" name="Text 3"/>
          <p:cNvSpPr txBox="1"/>
          <p:nvPr/>
        </p:nvSpPr>
        <p:spPr>
          <a:xfrm>
            <a:off x="868680" y="2011680"/>
            <a:ext cx="4769968" cy="365760"/>
          </a:xfrm>
          <a:prstGeom prst="rect">
            <a:avLst/>
          </a:prstGeom>
          <a:noFill/>
          <a:ln/>
        </p:spPr>
        <p:txBody>
          <a:bodyPr wrap="square" lIns="0" tIns="0" rIns="0" bIns="0" rtlCol="0" anchor="t"/>
          <a:lstStyle/>
          <a:p>
            <a:pPr indent="0" marL="0">
              <a:buNone/>
            </a:pPr>
            <a:r>
              <a:rPr lang="en-US" sz="1800" b="1" dirty="0">
                <a:solidFill>
                  <a:srgbClr val="14213D"/>
                </a:solidFill>
              </a:rPr>
              <a:t>What it shows</a:t>
            </a:r>
            <a:endParaRPr lang="en-US" sz="1800" dirty="0"/>
          </a:p>
        </p:txBody>
      </p:sp>
      <p:sp>
        <p:nvSpPr>
          <p:cNvPr id="6" name="Text 4"/>
          <p:cNvSpPr txBox="1"/>
          <p:nvPr/>
        </p:nvSpPr>
        <p:spPr>
          <a:xfrm>
            <a:off x="868680" y="2514600"/>
            <a:ext cx="4769968"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4A5568"/>
                </a:solidFill>
              </a:rPr>
              <a:t>It reads meaning, so negation and mixed intent work</a:t>
            </a:r>
            <a:endParaRPr lang="en-US" sz="1500" dirty="0"/>
          </a:p>
          <a:p>
            <a:pPr marL="342900" indent="-342900">
              <a:spcAft>
                <a:spcPts val="800"/>
              </a:spcAft>
              <a:buSzPct val="100000"/>
              <a:buChar char="•"/>
            </a:pPr>
            <a:r>
              <a:rPr lang="en-US" sz="1500" dirty="0">
                <a:solidFill>
                  <a:srgbClr val="4A5568"/>
                </a:solidFill>
              </a:rPr>
              <a:t>The business rule lives in one sentence we can edit</a:t>
            </a:r>
            <a:endParaRPr lang="en-US" sz="1500" dirty="0"/>
          </a:p>
          <a:p>
            <a:pPr marL="342900" indent="-342900">
              <a:spcAft>
                <a:spcPts val="800"/>
              </a:spcAft>
              <a:buSzPct val="100000"/>
              <a:buChar char="•"/>
            </a:pPr>
            <a:r>
              <a:rPr lang="en-US" sz="1500" dirty="0">
                <a:solidFill>
                  <a:srgbClr val="4A5568"/>
                </a:solidFill>
              </a:rPr>
              <a:t>No training data needed to start</a:t>
            </a:r>
            <a:endParaRPr lang="en-US" sz="1500" dirty="0"/>
          </a:p>
        </p:txBody>
      </p:sp>
      <p:sp>
        <p:nvSpPr>
          <p:cNvPr id="7" name="Shape 5"/>
          <p:cNvSpPr/>
          <p:nvPr/>
        </p:nvSpPr>
        <p:spPr>
          <a:xfrm>
            <a:off x="6233008" y="1783080"/>
            <a:ext cx="5410048" cy="3017520"/>
          </a:xfrm>
          <a:prstGeom prst="roundRect">
            <a:avLst>
              <a:gd name="adj" fmla="val 3636"/>
            </a:avLst>
          </a:prstGeom>
          <a:solidFill>
            <a:srgbClr val="FFFFFF"/>
          </a:solidFill>
          <a:ln w="12700">
            <a:solidFill>
              <a:srgbClr val="D5D8DE"/>
            </a:solidFill>
            <a:prstDash val="solid"/>
          </a:ln>
        </p:spPr>
      </p:sp>
      <p:sp>
        <p:nvSpPr>
          <p:cNvPr id="8" name="Text 6"/>
          <p:cNvSpPr txBox="1"/>
          <p:nvPr/>
        </p:nvSpPr>
        <p:spPr>
          <a:xfrm>
            <a:off x="6553048" y="2011680"/>
            <a:ext cx="4769968" cy="365760"/>
          </a:xfrm>
          <a:prstGeom prst="rect">
            <a:avLst/>
          </a:prstGeom>
          <a:noFill/>
          <a:ln/>
        </p:spPr>
        <p:txBody>
          <a:bodyPr wrap="square" lIns="0" tIns="0" rIns="0" bIns="0" rtlCol="0" anchor="t"/>
          <a:lstStyle/>
          <a:p>
            <a:pPr indent="0" marL="0">
              <a:buNone/>
            </a:pPr>
            <a:r>
              <a:rPr lang="en-US" sz="1800" b="1" dirty="0">
                <a:solidFill>
                  <a:srgbClr val="14213D"/>
                </a:solidFill>
              </a:rPr>
              <a:t>What to be careful about</a:t>
            </a:r>
            <a:endParaRPr lang="en-US" sz="1800" dirty="0"/>
          </a:p>
        </p:txBody>
      </p:sp>
      <p:sp>
        <p:nvSpPr>
          <p:cNvPr id="9" name="Text 7"/>
          <p:cNvSpPr txBox="1"/>
          <p:nvPr/>
        </p:nvSpPr>
        <p:spPr>
          <a:xfrm>
            <a:off x="6553048" y="2514600"/>
            <a:ext cx="4769968"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4A5568"/>
                </a:solidFill>
              </a:rPr>
              <a:t>Not a blind test: the same AI helped write the labels</a:t>
            </a:r>
            <a:endParaRPr lang="en-US" sz="1500" dirty="0"/>
          </a:p>
          <a:p>
            <a:pPr marL="342900" indent="-342900">
              <a:spcAft>
                <a:spcPts val="800"/>
              </a:spcAft>
              <a:buSzPct val="100000"/>
              <a:buChar char="•"/>
            </a:pPr>
            <a:r>
              <a:rPr lang="en-US" sz="1500" dirty="0">
                <a:solidFill>
                  <a:srgbClr val="4A5568"/>
                </a:solidFill>
              </a:rPr>
              <a:t>Only 28 messages scored; one error changes it by 4–12 points</a:t>
            </a:r>
            <a:endParaRPr lang="en-US" sz="1500" dirty="0"/>
          </a:p>
          <a:p>
            <a:pPr marL="342900" indent="-342900">
              <a:spcAft>
                <a:spcPts val="800"/>
              </a:spcAft>
              <a:buSzPct val="100000"/>
              <a:buChar char="•"/>
            </a:pPr>
            <a:r>
              <a:rPr lang="en-US" sz="1500" dirty="0">
                <a:solidFill>
                  <a:srgbClr val="4A5568"/>
                </a:solidFill>
              </a:rPr>
              <a:t>Costs money per call, adds network latency, depends on a vendor</a:t>
            </a:r>
            <a:endParaRPr lang="en-US" sz="1500" dirty="0"/>
          </a:p>
        </p:txBody>
      </p:sp>
      <p:sp>
        <p:nvSpPr>
          <p:cNvPr id="10" name="Text 8"/>
          <p:cNvSpPr txBox="1"/>
          <p:nvPr/>
        </p:nvSpPr>
        <p:spPr>
          <a:xfrm>
            <a:off x="548640" y="5074920"/>
            <a:ext cx="11094415" cy="457200"/>
          </a:xfrm>
          <a:prstGeom prst="rect">
            <a:avLst/>
          </a:prstGeom>
          <a:noFill/>
          <a:ln/>
        </p:spPr>
        <p:txBody>
          <a:bodyPr wrap="square" lIns="0" tIns="0" rIns="0" bIns="0" rtlCol="0" anchor="t"/>
          <a:lstStyle/>
          <a:p>
            <a:pPr indent="0" marL="0">
              <a:buNone/>
            </a:pPr>
            <a:r>
              <a:rPr lang="en-US" sz="1600" dirty="0">
                <a:solidFill>
                  <a:srgbClr val="4A5568"/>
                </a:solidFill>
              </a:rPr>
              <a:t>Next step for a fair test: we label a fresh batch by hand, then run Jev and Claude on it.</a:t>
            </a:r>
            <a:endParaRPr lang="en-US" sz="1600" dirty="0"/>
          </a:p>
        </p:txBody>
      </p:sp>
      <p:sp>
        <p:nvSpPr>
          <p:cNvPr id="11" name="Text 9"/>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Moaaz · Decision model · Hand over to Omar</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TRADITIONAL ML · MODEL</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Two numbers per message, a curved boundary</a:t>
            </a:r>
            <a:endParaRPr lang="en-US" sz="3400" dirty="0"/>
          </a:p>
        </p:txBody>
      </p:sp>
      <p:sp>
        <p:nvSpPr>
          <p:cNvPr id="4" name="Shape 2"/>
          <p:cNvSpPr/>
          <p:nvPr/>
        </p:nvSpPr>
        <p:spPr>
          <a:xfrm>
            <a:off x="548640" y="1783080"/>
            <a:ext cx="3515258" cy="3291840"/>
          </a:xfrm>
          <a:prstGeom prst="roundRect">
            <a:avLst>
              <a:gd name="adj" fmla="val 3333"/>
            </a:avLst>
          </a:prstGeom>
          <a:solidFill>
            <a:srgbClr val="FFFFFF"/>
          </a:solidFill>
          <a:ln w="12700">
            <a:solidFill>
              <a:srgbClr val="D5D8DE"/>
            </a:solidFill>
            <a:prstDash val="solid"/>
          </a:ln>
        </p:spPr>
      </p:sp>
      <p:sp>
        <p:nvSpPr>
          <p:cNvPr id="5" name="Text 3"/>
          <p:cNvSpPr txBox="1"/>
          <p:nvPr/>
        </p:nvSpPr>
        <p:spPr>
          <a:xfrm>
            <a:off x="822960" y="1965960"/>
            <a:ext cx="2966618" cy="274320"/>
          </a:xfrm>
          <a:prstGeom prst="rect">
            <a:avLst/>
          </a:prstGeom>
          <a:noFill/>
          <a:ln/>
        </p:spPr>
        <p:txBody>
          <a:bodyPr wrap="square" lIns="0" tIns="0" rIns="0" bIns="0" rtlCol="0" anchor="t"/>
          <a:lstStyle/>
          <a:p>
            <a:pPr indent="0" marL="0">
              <a:buNone/>
            </a:pPr>
            <a:r>
              <a:rPr lang="en-US" sz="1200" b="1" dirty="0">
                <a:solidFill>
                  <a:srgbClr val="2A78D6"/>
                </a:solidFill>
                <a:latin typeface="Courier New" pitchFamily="34" charset="0"/>
                <a:ea typeface="Courier New" pitchFamily="34" charset="-122"/>
                <a:cs typeface="Courier New" pitchFamily="34" charset="-120"/>
              </a:rPr>
              <a:t>1 · features</a:t>
            </a:r>
            <a:endParaRPr lang="en-US" sz="1200" dirty="0"/>
          </a:p>
        </p:txBody>
      </p:sp>
      <p:sp>
        <p:nvSpPr>
          <p:cNvPr id="6" name="Text 4"/>
          <p:cNvSpPr txBox="1"/>
          <p:nvPr/>
        </p:nvSpPr>
        <p:spPr>
          <a:xfrm>
            <a:off x="822960" y="2331720"/>
            <a:ext cx="2966618" cy="640080"/>
          </a:xfrm>
          <a:prstGeom prst="rect">
            <a:avLst/>
          </a:prstGeom>
          <a:noFill/>
          <a:ln/>
        </p:spPr>
        <p:txBody>
          <a:bodyPr wrap="square" lIns="0" tIns="0" rIns="0" bIns="0" rtlCol="0" anchor="t"/>
          <a:lstStyle/>
          <a:p>
            <a:pPr indent="0" marL="0">
              <a:buNone/>
            </a:pPr>
            <a:r>
              <a:rPr lang="en-US" sz="1700" b="1" dirty="0">
                <a:solidFill>
                  <a:srgbClr val="14213D"/>
                </a:solidFill>
              </a:rPr>
              <a:t>support_score, sales_score</a:t>
            </a:r>
            <a:endParaRPr lang="en-US" sz="1700" dirty="0"/>
          </a:p>
        </p:txBody>
      </p:sp>
      <p:sp>
        <p:nvSpPr>
          <p:cNvPr id="7" name="Text 5"/>
          <p:cNvSpPr txBox="1"/>
          <p:nvPr/>
        </p:nvSpPr>
        <p:spPr>
          <a:xfrm>
            <a:off x="822960" y="3017520"/>
            <a:ext cx="2966618" cy="1920240"/>
          </a:xfrm>
          <a:prstGeom prst="rect">
            <a:avLst/>
          </a:prstGeom>
          <a:noFill/>
          <a:ln/>
        </p:spPr>
        <p:txBody>
          <a:bodyPr wrap="square" lIns="0" tIns="0" rIns="0" bIns="0" rtlCol="0" anchor="t"/>
          <a:lstStyle/>
          <a:p>
            <a:pPr indent="0" marL="0">
              <a:buNone/>
            </a:pPr>
            <a:r>
              <a:rPr lang="en-US" sz="1400" dirty="0">
                <a:solidFill>
                  <a:srgbClr val="4A5568"/>
                </a:solidFill>
              </a:rPr>
              <a:t>Counts of generic problem cues (error, leak, late, warranty…) and purchase cues (quote, price, buy, demo…). A cue right after no / not / don’t counts −1, so “no issues” lowers support.</a:t>
            </a:r>
            <a:endParaRPr lang="en-US" sz="1400" dirty="0"/>
          </a:p>
        </p:txBody>
      </p:sp>
      <p:sp>
        <p:nvSpPr>
          <p:cNvPr id="8" name="Shape 6"/>
          <p:cNvSpPr/>
          <p:nvPr/>
        </p:nvSpPr>
        <p:spPr>
          <a:xfrm>
            <a:off x="4338218" y="1783080"/>
            <a:ext cx="3515258" cy="3291840"/>
          </a:xfrm>
          <a:prstGeom prst="roundRect">
            <a:avLst>
              <a:gd name="adj" fmla="val 3333"/>
            </a:avLst>
          </a:prstGeom>
          <a:solidFill>
            <a:srgbClr val="FFFFFF"/>
          </a:solidFill>
          <a:ln w="12700">
            <a:solidFill>
              <a:srgbClr val="D5D8DE"/>
            </a:solidFill>
            <a:prstDash val="solid"/>
          </a:ln>
        </p:spPr>
      </p:sp>
      <p:sp>
        <p:nvSpPr>
          <p:cNvPr id="9" name="Text 7"/>
          <p:cNvSpPr txBox="1"/>
          <p:nvPr/>
        </p:nvSpPr>
        <p:spPr>
          <a:xfrm>
            <a:off x="4612538" y="1965960"/>
            <a:ext cx="2966618" cy="274320"/>
          </a:xfrm>
          <a:prstGeom prst="rect">
            <a:avLst/>
          </a:prstGeom>
          <a:noFill/>
          <a:ln/>
        </p:spPr>
        <p:txBody>
          <a:bodyPr wrap="square" lIns="0" tIns="0" rIns="0" bIns="0" rtlCol="0" anchor="t"/>
          <a:lstStyle/>
          <a:p>
            <a:pPr indent="0" marL="0">
              <a:buNone/>
            </a:pPr>
            <a:r>
              <a:rPr lang="en-US" sz="1200" b="1" dirty="0">
                <a:solidFill>
                  <a:srgbClr val="2A78D6"/>
                </a:solidFill>
                <a:latin typeface="Courier New" pitchFamily="34" charset="0"/>
                <a:ea typeface="Courier New" pitchFamily="34" charset="-122"/>
                <a:cs typeface="Courier New" pitchFamily="34" charset="-120"/>
              </a:rPr>
              <a:t>2 · model</a:t>
            </a:r>
            <a:endParaRPr lang="en-US" sz="1200" dirty="0"/>
          </a:p>
        </p:txBody>
      </p:sp>
      <p:sp>
        <p:nvSpPr>
          <p:cNvPr id="10" name="Text 8"/>
          <p:cNvSpPr txBox="1"/>
          <p:nvPr/>
        </p:nvSpPr>
        <p:spPr>
          <a:xfrm>
            <a:off x="4612538" y="2331720"/>
            <a:ext cx="2966618" cy="640080"/>
          </a:xfrm>
          <a:prstGeom prst="rect">
            <a:avLst/>
          </a:prstGeom>
          <a:noFill/>
          <a:ln/>
        </p:spPr>
        <p:txBody>
          <a:bodyPr wrap="square" lIns="0" tIns="0" rIns="0" bIns="0" rtlCol="0" anchor="t"/>
          <a:lstStyle/>
          <a:p>
            <a:pPr indent="0" marL="0">
              <a:buNone/>
            </a:pPr>
            <a:r>
              <a:rPr lang="en-US" sz="1700" b="1" dirty="0">
                <a:solidFill>
                  <a:srgbClr val="14213D"/>
                </a:solidFill>
              </a:rPr>
              <a:t>Logistic regression, degree 2</a:t>
            </a:r>
            <a:endParaRPr lang="en-US" sz="1700" dirty="0"/>
          </a:p>
        </p:txBody>
      </p:sp>
      <p:sp>
        <p:nvSpPr>
          <p:cNvPr id="11" name="Text 9"/>
          <p:cNvSpPr txBox="1"/>
          <p:nvPr/>
        </p:nvSpPr>
        <p:spPr>
          <a:xfrm>
            <a:off x="4612538" y="3017520"/>
            <a:ext cx="2966618" cy="1920240"/>
          </a:xfrm>
          <a:prstGeom prst="rect">
            <a:avLst/>
          </a:prstGeom>
          <a:noFill/>
          <a:ln/>
        </p:spPr>
        <p:txBody>
          <a:bodyPr wrap="square" lIns="0" tIns="0" rIns="0" bIns="0" rtlCol="0" anchor="t"/>
          <a:lstStyle/>
          <a:p>
            <a:pPr indent="0" marL="0">
              <a:buNone/>
            </a:pPr>
            <a:r>
              <a:rPr lang="en-US" sz="1400" dirty="0">
                <a:solidFill>
                  <a:srgbClr val="4A5568"/>
                </a:solidFill>
              </a:rPr>
              <a:t>StandardScaler → PolynomialFeatures(2): x₁, x₂, x₁², x₁x₂, x₂² → LogisticRegression(C = 1). Flag 1 when P(sales) ≥ 0.5.</a:t>
            </a:r>
            <a:endParaRPr lang="en-US" sz="1400" dirty="0"/>
          </a:p>
        </p:txBody>
      </p:sp>
      <p:sp>
        <p:nvSpPr>
          <p:cNvPr id="12" name="Shape 10"/>
          <p:cNvSpPr/>
          <p:nvPr/>
        </p:nvSpPr>
        <p:spPr>
          <a:xfrm>
            <a:off x="8127797" y="1783080"/>
            <a:ext cx="3515258" cy="3291840"/>
          </a:xfrm>
          <a:prstGeom prst="roundRect">
            <a:avLst>
              <a:gd name="adj" fmla="val 3333"/>
            </a:avLst>
          </a:prstGeom>
          <a:solidFill>
            <a:srgbClr val="FFFFFF"/>
          </a:solidFill>
          <a:ln w="12700">
            <a:solidFill>
              <a:srgbClr val="D5D8DE"/>
            </a:solidFill>
            <a:prstDash val="solid"/>
          </a:ln>
        </p:spPr>
      </p:sp>
      <p:sp>
        <p:nvSpPr>
          <p:cNvPr id="13" name="Text 11"/>
          <p:cNvSpPr txBox="1"/>
          <p:nvPr/>
        </p:nvSpPr>
        <p:spPr>
          <a:xfrm>
            <a:off x="8402117" y="1965960"/>
            <a:ext cx="2966618" cy="274320"/>
          </a:xfrm>
          <a:prstGeom prst="rect">
            <a:avLst/>
          </a:prstGeom>
          <a:noFill/>
          <a:ln/>
        </p:spPr>
        <p:txBody>
          <a:bodyPr wrap="square" lIns="0" tIns="0" rIns="0" bIns="0" rtlCol="0" anchor="t"/>
          <a:lstStyle/>
          <a:p>
            <a:pPr indent="0" marL="0">
              <a:buNone/>
            </a:pPr>
            <a:r>
              <a:rPr lang="en-US" sz="1200" b="1" dirty="0">
                <a:solidFill>
                  <a:srgbClr val="2A78D6"/>
                </a:solidFill>
                <a:latin typeface="Courier New" pitchFamily="34" charset="0"/>
                <a:ea typeface="Courier New" pitchFamily="34" charset="-122"/>
                <a:cs typeface="Courier New" pitchFamily="34" charset="-120"/>
              </a:rPr>
              <a:t>3 · training</a:t>
            </a:r>
            <a:endParaRPr lang="en-US" sz="1200" dirty="0"/>
          </a:p>
        </p:txBody>
      </p:sp>
      <p:sp>
        <p:nvSpPr>
          <p:cNvPr id="14" name="Text 12"/>
          <p:cNvSpPr txBox="1"/>
          <p:nvPr/>
        </p:nvSpPr>
        <p:spPr>
          <a:xfrm>
            <a:off x="8402117" y="2331720"/>
            <a:ext cx="2966618" cy="640080"/>
          </a:xfrm>
          <a:prstGeom prst="rect">
            <a:avLst/>
          </a:prstGeom>
          <a:noFill/>
          <a:ln/>
        </p:spPr>
        <p:txBody>
          <a:bodyPr wrap="square" lIns="0" tIns="0" rIns="0" bIns="0" rtlCol="0" anchor="t"/>
          <a:lstStyle/>
          <a:p>
            <a:pPr indent="0" marL="0">
              <a:buNone/>
            </a:pPr>
            <a:r>
              <a:rPr lang="en-US" sz="1700" b="1" dirty="0">
                <a:solidFill>
                  <a:srgbClr val="14213D"/>
                </a:solidFill>
              </a:rPr>
              <a:t>40 messages, scikit-learn</a:t>
            </a:r>
            <a:endParaRPr lang="en-US" sz="1700" dirty="0"/>
          </a:p>
        </p:txBody>
      </p:sp>
      <p:sp>
        <p:nvSpPr>
          <p:cNvPr id="15" name="Text 13"/>
          <p:cNvSpPr txBox="1"/>
          <p:nvPr/>
        </p:nvSpPr>
        <p:spPr>
          <a:xfrm>
            <a:off x="8402117" y="3017520"/>
            <a:ext cx="2966618" cy="1920240"/>
          </a:xfrm>
          <a:prstGeom prst="rect">
            <a:avLst/>
          </a:prstGeom>
          <a:noFill/>
          <a:ln/>
        </p:spPr>
        <p:txBody>
          <a:bodyPr wrap="square" lIns="0" tIns="0" rIns="0" bIns="0" rtlCol="0" anchor="t"/>
          <a:lstStyle/>
          <a:p>
            <a:pPr indent="0" marL="0">
              <a:buNone/>
            </a:pPr>
            <a:r>
              <a:rPr lang="en-US" sz="1400" dirty="0">
                <a:solidFill>
                  <a:srgbClr val="4A5568"/>
                </a:solidFill>
              </a:rPr>
              <a:t>Train accuracy 38/40. Test accuracy 20/20. Over 200 random group splits: 96% on average (85% at worst).</a:t>
            </a:r>
            <a:endParaRPr lang="en-US" sz="1400" dirty="0"/>
          </a:p>
        </p:txBody>
      </p:sp>
      <p:sp>
        <p:nvSpPr>
          <p:cNvPr id="16" name="Text 14"/>
          <p:cNvSpPr txBox="1"/>
          <p:nvPr/>
        </p:nvSpPr>
        <p:spPr>
          <a:xfrm>
            <a:off x="548640" y="5303520"/>
            <a:ext cx="11094415" cy="640080"/>
          </a:xfrm>
          <a:prstGeom prst="rect">
            <a:avLst/>
          </a:prstGeom>
          <a:noFill/>
          <a:ln/>
        </p:spPr>
        <p:txBody>
          <a:bodyPr wrap="square" lIns="0" tIns="0" rIns="0" bIns="0" rtlCol="0" anchor="t"/>
          <a:lstStyle/>
          <a:p>
            <a:pPr indent="0" marL="0">
              <a:buNone/>
            </a:pPr>
            <a:r>
              <a:rPr lang="en-US" sz="1500" dirty="0">
                <a:solidFill>
                  <a:srgbClr val="4A5568"/>
                </a:solidFill>
              </a:rPr>
              <a:t>First try, word weights learned from the 40 messages: only 40% on test. Forty examples are too few to learn vocabulary, so we switched to cue counts.</a:t>
            </a:r>
            <a:endParaRPr lang="en-US" sz="1500" dirty="0"/>
          </a:p>
        </p:txBody>
      </p:sp>
      <p:sp>
        <p:nvSpPr>
          <p:cNvPr id="17" name="Text 15"/>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Omar · ML classifier · Code: features.py, ml_router.py</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TRADITIONAL ML · BOUNDARY</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Sales only when purchase cues outweigh problem cues</a:t>
            </a:r>
            <a:endParaRPr lang="en-US" sz="3400" dirty="0"/>
          </a:p>
        </p:txBody>
      </p:sp>
      <p:pic>
        <p:nvPicPr>
          <p:cNvPr id="4" name="Image 0" descr="Scatter plot of support_score against sales_score with the degree-2 logistic regression boundary; two mixed-intent training messages are circled as misrouted.">    </p:cNvPr>
          <p:cNvPicPr>
            <a:picLocks noChangeAspect="1"/>
          </p:cNvPicPr>
          <p:nvPr/>
        </p:nvPicPr>
        <p:blipFill>
          <a:blip r:embed="rId1"/>
          <a:stretch>
            <a:fillRect/>
          </a:stretch>
        </p:blipFill>
        <p:spPr>
          <a:xfrm>
            <a:off x="548640" y="1600200"/>
            <a:ext cx="6217920" cy="4663440"/>
          </a:xfrm>
          <a:prstGeom prst="rect">
            <a:avLst/>
          </a:prstGeom>
        </p:spPr>
      </p:pic>
      <p:sp>
        <p:nvSpPr>
          <p:cNvPr id="5" name="Text 2"/>
          <p:cNvSpPr txBox="1"/>
          <p:nvPr/>
        </p:nvSpPr>
        <p:spPr>
          <a:xfrm>
            <a:off x="7132320" y="2011680"/>
            <a:ext cx="4480560" cy="1188720"/>
          </a:xfrm>
          <a:prstGeom prst="rect">
            <a:avLst/>
          </a:prstGeom>
          <a:noFill/>
          <a:ln/>
        </p:spPr>
        <p:txBody>
          <a:bodyPr wrap="square" lIns="0" tIns="0" rIns="0" bIns="0" rtlCol="0" anchor="t"/>
          <a:lstStyle/>
          <a:p>
            <a:pPr indent="0" marL="0">
              <a:buNone/>
            </a:pPr>
            <a:r>
              <a:rPr lang="en-US" sz="1600" dirty="0">
                <a:solidFill>
                  <a:srgbClr val="4A5568"/>
                </a:solidFill>
              </a:rPr>
              <a:t>The curve bends: a message needs more purchase cues before it counts as sales as its problem cues rise.</a:t>
            </a:r>
            <a:endParaRPr lang="en-US" sz="1600" dirty="0"/>
          </a:p>
        </p:txBody>
      </p:sp>
      <p:sp>
        <p:nvSpPr>
          <p:cNvPr id="6" name="Text 3"/>
          <p:cNvSpPr txBox="1"/>
          <p:nvPr/>
        </p:nvSpPr>
        <p:spPr>
          <a:xfrm>
            <a:off x="7132320" y="3383280"/>
            <a:ext cx="4480560" cy="1463040"/>
          </a:xfrm>
          <a:prstGeom prst="rect">
            <a:avLst/>
          </a:prstGeom>
          <a:noFill/>
          <a:ln/>
        </p:spPr>
        <p:txBody>
          <a:bodyPr wrap="square" lIns="0" tIns="0" rIns="0" bIns="0" rtlCol="0" anchor="t"/>
          <a:lstStyle/>
          <a:p>
            <a:pPr indent="0" marL="0">
              <a:buNone/>
            </a:pPr>
            <a:r>
              <a:rPr lang="en-US" sz="1600" b="1" dirty="0">
                <a:solidFill>
                  <a:srgbClr val="14213D"/>
                </a:solidFill>
              </a:rPr>
              <a:t>Circled: </a:t>
            </a:r>
            <a:pPr indent="0" marL="0">
              <a:buNone/>
            </a:pPr>
            <a:r>
              <a:rPr lang="en-US" sz="1600" dirty="0">
                <a:solidFill>
                  <a:srgbClr val="4A5568"/>
                </a:solidFill>
              </a:rPr>
              <a:t>two mixed-intent messages (M08, M27). Their purchase words outnumber their problem words, so the model sends them to sales, against our rule.</a:t>
            </a:r>
            <a:endParaRPr lang="en-US" sz="1600" dirty="0"/>
          </a:p>
        </p:txBody>
      </p:sp>
      <p:sp>
        <p:nvSpPr>
          <p:cNvPr id="7" name="Text 4"/>
          <p:cNvSpPr txBox="1"/>
          <p:nvPr/>
        </p:nvSpPr>
        <p:spPr>
          <a:xfrm>
            <a:off x="7132320" y="5120640"/>
            <a:ext cx="4480560" cy="457200"/>
          </a:xfrm>
          <a:prstGeom prst="rect">
            <a:avLst/>
          </a:prstGeom>
          <a:noFill/>
          <a:ln/>
        </p:spPr>
        <p:txBody>
          <a:bodyPr wrap="square" lIns="0" tIns="0" rIns="0" bIns="0" rtlCol="0" anchor="t"/>
          <a:lstStyle/>
          <a:p>
            <a:pPr indent="0" marL="0">
              <a:buNone/>
            </a:pPr>
            <a:r>
              <a:rPr lang="en-US" sz="1200" dirty="0">
                <a:solidFill>
                  <a:srgbClr val="6B7689"/>
                </a:solidFill>
              </a:rPr>
              <a:t>Points are jittered slightly so overlapping messages stay visible.</a:t>
            </a:r>
            <a:endParaRPr lang="en-US" sz="1200" dirty="0"/>
          </a:p>
        </p:txBody>
      </p:sp>
      <p:sp>
        <p:nvSpPr>
          <p:cNvPr id="8" name="Text 5"/>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Omar · ML classifier</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COMPARISON</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Tied on clear messages, apart on hard ones</a:t>
            </a:r>
            <a:endParaRPr lang="en-US" sz="3400" dirty="0"/>
          </a:p>
        </p:txBody>
      </p:sp>
      <p:graphicFrame>
        <p:nvGraphicFramePr>
          <p:cNvPr id="4" name="Chart 0" descr=""/>
          <p:cNvGraphicFramePr/>
          <p:nvPr/>
        </p:nvGraphicFramePr>
        <p:xfrm>
          <a:off x="548640" y="164592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828800"/>
            <a:ext cx="4050792" cy="731520"/>
          </a:xfrm>
          <a:prstGeom prst="rect">
            <a:avLst/>
          </a:prstGeom>
          <a:noFill/>
          <a:ln/>
        </p:spPr>
        <p:txBody>
          <a:bodyPr wrap="square" lIns="0" tIns="0" rIns="0" bIns="0" rtlCol="0" anchor="t"/>
          <a:lstStyle/>
          <a:p>
            <a:pPr indent="0" marL="0">
              <a:buNone/>
            </a:pPr>
            <a:r>
              <a:rPr lang="en-US" sz="1600" b="1" dirty="0">
                <a:solidFill>
                  <a:srgbClr val="14213D"/>
                </a:solidFill>
              </a:rPr>
              <a:t>ML errors on the new hard messages, all from counting words:</a:t>
            </a:r>
            <a:endParaRPr lang="en-US" sz="1600" dirty="0"/>
          </a:p>
        </p:txBody>
      </p:sp>
      <p:sp>
        <p:nvSpPr>
          <p:cNvPr id="6" name="Text 3"/>
          <p:cNvSpPr txBox="1"/>
          <p:nvPr/>
        </p:nvSpPr>
        <p:spPr>
          <a:xfrm>
            <a:off x="7589520" y="2651760"/>
            <a:ext cx="4050792"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4A5568"/>
                </a:solidFill>
              </a:rPr>
              <a:t>“Your quote said 4 weeks… isn’t commissioned” → sales</a:t>
            </a:r>
            <a:endParaRPr lang="en-US" sz="1500" dirty="0"/>
          </a:p>
          <a:p>
            <a:pPr marL="342900" indent="-342900">
              <a:spcAft>
                <a:spcPts val="1000"/>
              </a:spcAft>
              <a:buSzPct val="100000"/>
              <a:buChar char="•"/>
            </a:pPr>
            <a:r>
              <a:rPr lang="en-US" sz="1500" dirty="0">
                <a:solidFill>
                  <a:srgbClr val="4A5568"/>
                </a:solidFill>
              </a:rPr>
              <a:t>“Please quote the repair cost…” → sales</a:t>
            </a:r>
            <a:endParaRPr lang="en-US" sz="1500" dirty="0"/>
          </a:p>
          <a:p>
            <a:pPr marL="342900" indent="-342900">
              <a:spcAft>
                <a:spcPts val="1000"/>
              </a:spcAft>
              <a:buSzPct val="100000"/>
              <a:buChar char="•"/>
            </a:pPr>
            <a:r>
              <a:rPr lang="en-US" sz="1500" dirty="0">
                <a:solidFill>
                  <a:srgbClr val="4A5568"/>
                </a:solidFill>
              </a:rPr>
              <a:t>“We can’t decide between… compressors” → support</a:t>
            </a:r>
            <a:endParaRPr lang="en-US" sz="1500" dirty="0"/>
          </a:p>
        </p:txBody>
      </p:sp>
      <p:sp>
        <p:nvSpPr>
          <p:cNvPr id="7" name="Text 4"/>
          <p:cNvSpPr txBox="1"/>
          <p:nvPr/>
        </p:nvSpPr>
        <p:spPr>
          <a:xfrm>
            <a:off x="7589520" y="5120640"/>
            <a:ext cx="4050792" cy="548640"/>
          </a:xfrm>
          <a:prstGeom prst="rect">
            <a:avLst/>
          </a:prstGeom>
          <a:noFill/>
          <a:ln/>
        </p:spPr>
        <p:txBody>
          <a:bodyPr wrap="square" lIns="0" tIns="0" rIns="0" bIns="0" rtlCol="0" anchor="t"/>
          <a:lstStyle/>
          <a:p>
            <a:pPr indent="0" marL="0">
              <a:buNone/>
            </a:pPr>
            <a:r>
              <a:rPr lang="en-US" sz="1300" dirty="0">
                <a:solidFill>
                  <a:srgbClr val="6B7689"/>
                </a:solidFill>
              </a:rPr>
              <a:t>Counts: ML 20/20, 2/4, 5/8 · Decision model 20/20, 4/4, 8/8</a:t>
            </a:r>
            <a:endParaRPr lang="en-US" sz="1300" dirty="0"/>
          </a:p>
        </p:txBody>
      </p:sp>
      <p:sp>
        <p:nvSpPr>
          <p:cNvPr id="8" name="Text 5"/>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Omar · Comparison · Results: evaluate.py → results.json</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8FB8EE"/>
                </a:solidFill>
                <a:latin typeface="Courier New" pitchFamily="34" charset="0"/>
                <a:ea typeface="Courier New" pitchFamily="34" charset="-122"/>
                <a:cs typeface="Courier New" pitchFamily="34" charset="-120"/>
              </a:rPr>
              <a:t>RECOMMENDATION FOR KIO</a:t>
            </a:r>
            <a:endParaRPr lang="en-US" sz="1200" dirty="0"/>
          </a:p>
        </p:txBody>
      </p:sp>
      <p:sp>
        <p:nvSpPr>
          <p:cNvPr id="3" name="Text 0"/>
          <p:cNvSpPr/>
          <p:nvPr>
            <p:ph idx="100" type="title" hasCustomPrompt="1"/>
          </p:nvPr>
        </p:nvSpPr>
        <p:spPr>
          <a:xfrm>
            <a:off x="548640" y="685800"/>
            <a:ext cx="11094415" cy="1371600"/>
          </a:xfrm>
          <a:prstGeom prst="rect">
            <a:avLst/>
          </a:prstGeom>
          <a:noFill/>
          <a:ln/>
        </p:spPr>
        <p:txBody>
          <a:bodyPr wrap="square" lIns="0" tIns="0" rIns="0" bIns="0" rtlCol="0" anchor="t"/>
          <a:lstStyle/>
          <a:p>
            <a:pPr algn="l" indent="0" marL="0">
              <a:buNone/>
            </a:pPr>
            <a:r>
              <a:rPr lang="en-US" sz="3600" b="1" dirty="0">
                <a:solidFill>
                  <a:srgbClr val="F7F6F2"/>
                </a:solidFill>
              </a:rPr>
              <a:t>Use the decision model as the router, and keep the classifier as a fallback</a:t>
            </a:r>
            <a:endParaRPr lang="en-US" sz="3600" dirty="0"/>
          </a:p>
        </p:txBody>
      </p:sp>
      <p:sp>
        <p:nvSpPr>
          <p:cNvPr id="4" name="Shape 2"/>
          <p:cNvSpPr/>
          <p:nvPr/>
        </p:nvSpPr>
        <p:spPr>
          <a:xfrm>
            <a:off x="548640" y="2971800"/>
            <a:ext cx="457200" cy="457200"/>
          </a:xfrm>
          <a:prstGeom prst="ellipse">
            <a:avLst/>
          </a:prstGeom>
          <a:solidFill>
            <a:srgbClr val="F5A27F"/>
          </a:solidFill>
          <a:ln w="12700">
            <a:solidFill>
              <a:srgbClr val="F5A27F"/>
            </a:solidFill>
            <a:prstDash val="solid"/>
          </a:ln>
        </p:spPr>
      </p:sp>
      <p:sp>
        <p:nvSpPr>
          <p:cNvPr id="5" name="Text 3"/>
          <p:cNvSpPr txBox="1"/>
          <p:nvPr/>
        </p:nvSpPr>
        <p:spPr>
          <a:xfrm>
            <a:off x="548640" y="2971800"/>
            <a:ext cx="457200" cy="457200"/>
          </a:xfrm>
          <a:prstGeom prst="rect">
            <a:avLst/>
          </a:prstGeom>
          <a:noFill/>
          <a:ln/>
        </p:spPr>
        <p:txBody>
          <a:bodyPr wrap="square" lIns="0" tIns="0" rIns="0" bIns="0" rtlCol="0" anchor="ctr"/>
          <a:lstStyle/>
          <a:p>
            <a:pPr algn="ctr" indent="0" marL="0">
              <a:buNone/>
            </a:pPr>
            <a:r>
              <a:rPr lang="en-US" sz="1600" b="1" dirty="0">
                <a:solidFill>
                  <a:srgbClr val="14213D"/>
                </a:solidFill>
              </a:rPr>
              <a:t>1</a:t>
            </a:r>
            <a:endParaRPr lang="en-US" sz="1600" dirty="0"/>
          </a:p>
        </p:txBody>
      </p:sp>
      <p:sp>
        <p:nvSpPr>
          <p:cNvPr id="6" name="Text 4"/>
          <p:cNvSpPr txBox="1"/>
          <p:nvPr/>
        </p:nvSpPr>
        <p:spPr>
          <a:xfrm>
            <a:off x="548640" y="3611880"/>
            <a:ext cx="3515258" cy="411480"/>
          </a:xfrm>
          <a:prstGeom prst="rect">
            <a:avLst/>
          </a:prstGeom>
          <a:noFill/>
          <a:ln/>
        </p:spPr>
        <p:txBody>
          <a:bodyPr wrap="square" lIns="0" tIns="0" rIns="0" bIns="0" rtlCol="0" anchor="t"/>
          <a:lstStyle/>
          <a:p>
            <a:pPr indent="0" marL="0">
              <a:buNone/>
            </a:pPr>
            <a:r>
              <a:rPr lang="en-US" sz="1900" b="1" dirty="0">
                <a:solidFill>
                  <a:srgbClr val="F7F6F2"/>
                </a:solidFill>
              </a:rPr>
              <a:t>Why</a:t>
            </a:r>
            <a:endParaRPr lang="en-US" sz="1900" dirty="0"/>
          </a:p>
        </p:txBody>
      </p:sp>
      <p:sp>
        <p:nvSpPr>
          <p:cNvPr id="7" name="Text 5"/>
          <p:cNvSpPr txBox="1"/>
          <p:nvPr/>
        </p:nvSpPr>
        <p:spPr>
          <a:xfrm>
            <a:off x="548640" y="4069080"/>
            <a:ext cx="3515258" cy="1463040"/>
          </a:xfrm>
          <a:prstGeom prst="rect">
            <a:avLst/>
          </a:prstGeom>
          <a:noFill/>
          <a:ln/>
        </p:spPr>
        <p:txBody>
          <a:bodyPr wrap="square" lIns="0" tIns="0" rIns="0" bIns="0" rtlCol="0" anchor="t"/>
          <a:lstStyle/>
          <a:p>
            <a:pPr indent="0" marL="0">
              <a:buNone/>
            </a:pPr>
            <a:r>
              <a:rPr lang="en-US" sz="1500" dirty="0">
                <a:solidFill>
                  <a:srgbClr val="C9D3E3"/>
                </a:solidFill>
              </a:rPr>
              <a:t>Mixed intent and negation are common in real chats, and that is where the classifier fails and costs customers.</a:t>
            </a:r>
            <a:endParaRPr lang="en-US" sz="1500" dirty="0"/>
          </a:p>
        </p:txBody>
      </p:sp>
      <p:sp>
        <p:nvSpPr>
          <p:cNvPr id="8" name="Shape 6"/>
          <p:cNvSpPr/>
          <p:nvPr/>
        </p:nvSpPr>
        <p:spPr>
          <a:xfrm>
            <a:off x="4338218" y="2971800"/>
            <a:ext cx="457200" cy="457200"/>
          </a:xfrm>
          <a:prstGeom prst="ellipse">
            <a:avLst/>
          </a:prstGeom>
          <a:solidFill>
            <a:srgbClr val="8FB8EE"/>
          </a:solidFill>
          <a:ln w="12700">
            <a:solidFill>
              <a:srgbClr val="8FB8EE"/>
            </a:solidFill>
            <a:prstDash val="solid"/>
          </a:ln>
        </p:spPr>
      </p:sp>
      <p:sp>
        <p:nvSpPr>
          <p:cNvPr id="9" name="Text 7"/>
          <p:cNvSpPr txBox="1"/>
          <p:nvPr/>
        </p:nvSpPr>
        <p:spPr>
          <a:xfrm>
            <a:off x="4338218" y="2971800"/>
            <a:ext cx="457200" cy="457200"/>
          </a:xfrm>
          <a:prstGeom prst="rect">
            <a:avLst/>
          </a:prstGeom>
          <a:noFill/>
          <a:ln/>
        </p:spPr>
        <p:txBody>
          <a:bodyPr wrap="square" lIns="0" tIns="0" rIns="0" bIns="0" rtlCol="0" anchor="ctr"/>
          <a:lstStyle/>
          <a:p>
            <a:pPr algn="ctr" indent="0" marL="0">
              <a:buNone/>
            </a:pPr>
            <a:r>
              <a:rPr lang="en-US" sz="1600" b="1" dirty="0">
                <a:solidFill>
                  <a:srgbClr val="14213D"/>
                </a:solidFill>
              </a:rPr>
              <a:t>2</a:t>
            </a:r>
            <a:endParaRPr lang="en-US" sz="1600" dirty="0"/>
          </a:p>
        </p:txBody>
      </p:sp>
      <p:sp>
        <p:nvSpPr>
          <p:cNvPr id="10" name="Text 8"/>
          <p:cNvSpPr txBox="1"/>
          <p:nvPr/>
        </p:nvSpPr>
        <p:spPr>
          <a:xfrm>
            <a:off x="4338218" y="3611880"/>
            <a:ext cx="3515258" cy="411480"/>
          </a:xfrm>
          <a:prstGeom prst="rect">
            <a:avLst/>
          </a:prstGeom>
          <a:noFill/>
          <a:ln/>
        </p:spPr>
        <p:txBody>
          <a:bodyPr wrap="square" lIns="0" tIns="0" rIns="0" bIns="0" rtlCol="0" anchor="t"/>
          <a:lstStyle/>
          <a:p>
            <a:pPr indent="0" marL="0">
              <a:buNone/>
            </a:pPr>
            <a:r>
              <a:rPr lang="en-US" sz="1900" b="1" dirty="0">
                <a:solidFill>
                  <a:srgbClr val="F7F6F2"/>
                </a:solidFill>
              </a:rPr>
              <a:t>Fallback</a:t>
            </a:r>
            <a:endParaRPr lang="en-US" sz="1900" dirty="0"/>
          </a:p>
        </p:txBody>
      </p:sp>
      <p:sp>
        <p:nvSpPr>
          <p:cNvPr id="11" name="Text 9"/>
          <p:cNvSpPr txBox="1"/>
          <p:nvPr/>
        </p:nvSpPr>
        <p:spPr>
          <a:xfrm>
            <a:off x="4338218" y="4069080"/>
            <a:ext cx="3515258" cy="1463040"/>
          </a:xfrm>
          <a:prstGeom prst="rect">
            <a:avLst/>
          </a:prstGeom>
          <a:noFill/>
          <a:ln/>
        </p:spPr>
        <p:txBody>
          <a:bodyPr wrap="square" lIns="0" tIns="0" rIns="0" bIns="0" rtlCol="0" anchor="t"/>
          <a:lstStyle/>
          <a:p>
            <a:pPr indent="0" marL="0">
              <a:buNone/>
            </a:pPr>
            <a:r>
              <a:rPr lang="en-US" sz="1500" dirty="0">
                <a:solidFill>
                  <a:srgbClr val="C9D3E3"/>
                </a:solidFill>
              </a:rPr>
              <a:t>If the API is down or the output is invalid, the free local classifier routes instead; when unsure, default to support.</a:t>
            </a:r>
            <a:endParaRPr lang="en-US" sz="1500" dirty="0"/>
          </a:p>
        </p:txBody>
      </p:sp>
      <p:sp>
        <p:nvSpPr>
          <p:cNvPr id="12" name="Shape 10"/>
          <p:cNvSpPr/>
          <p:nvPr/>
        </p:nvSpPr>
        <p:spPr>
          <a:xfrm>
            <a:off x="8127797" y="2971800"/>
            <a:ext cx="457200" cy="457200"/>
          </a:xfrm>
          <a:prstGeom prst="ellipse">
            <a:avLst/>
          </a:prstGeom>
          <a:solidFill>
            <a:srgbClr val="C9D3E3"/>
          </a:solidFill>
          <a:ln w="12700">
            <a:solidFill>
              <a:srgbClr val="C9D3E3"/>
            </a:solidFill>
            <a:prstDash val="solid"/>
          </a:ln>
        </p:spPr>
      </p:sp>
      <p:sp>
        <p:nvSpPr>
          <p:cNvPr id="13" name="Text 11"/>
          <p:cNvSpPr txBox="1"/>
          <p:nvPr/>
        </p:nvSpPr>
        <p:spPr>
          <a:xfrm>
            <a:off x="8127797" y="2971800"/>
            <a:ext cx="457200" cy="457200"/>
          </a:xfrm>
          <a:prstGeom prst="rect">
            <a:avLst/>
          </a:prstGeom>
          <a:noFill/>
          <a:ln/>
        </p:spPr>
        <p:txBody>
          <a:bodyPr wrap="square" lIns="0" tIns="0" rIns="0" bIns="0" rtlCol="0" anchor="ctr"/>
          <a:lstStyle/>
          <a:p>
            <a:pPr algn="ctr" indent="0" marL="0">
              <a:buNone/>
            </a:pPr>
            <a:r>
              <a:rPr lang="en-US" sz="1600" b="1" dirty="0">
                <a:solidFill>
                  <a:srgbClr val="14213D"/>
                </a:solidFill>
              </a:rPr>
              <a:t>3</a:t>
            </a:r>
            <a:endParaRPr lang="en-US" sz="1600" dirty="0"/>
          </a:p>
        </p:txBody>
      </p:sp>
      <p:sp>
        <p:nvSpPr>
          <p:cNvPr id="14" name="Text 12"/>
          <p:cNvSpPr txBox="1"/>
          <p:nvPr/>
        </p:nvSpPr>
        <p:spPr>
          <a:xfrm>
            <a:off x="8127797" y="3611880"/>
            <a:ext cx="3515258" cy="411480"/>
          </a:xfrm>
          <a:prstGeom prst="rect">
            <a:avLst/>
          </a:prstGeom>
          <a:noFill/>
          <a:ln/>
        </p:spPr>
        <p:txBody>
          <a:bodyPr wrap="square" lIns="0" tIns="0" rIns="0" bIns="0" rtlCol="0" anchor="t"/>
          <a:lstStyle/>
          <a:p>
            <a:pPr indent="0" marL="0">
              <a:buNone/>
            </a:pPr>
            <a:r>
              <a:rPr lang="en-US" sz="1900" b="1" dirty="0">
                <a:solidFill>
                  <a:srgbClr val="F7F6F2"/>
                </a:solidFill>
              </a:rPr>
              <a:t>Before launch</a:t>
            </a:r>
            <a:endParaRPr lang="en-US" sz="1900" dirty="0"/>
          </a:p>
        </p:txBody>
      </p:sp>
      <p:sp>
        <p:nvSpPr>
          <p:cNvPr id="15" name="Text 13"/>
          <p:cNvSpPr txBox="1"/>
          <p:nvPr/>
        </p:nvSpPr>
        <p:spPr>
          <a:xfrm>
            <a:off x="8127797" y="4069080"/>
            <a:ext cx="3515258" cy="1463040"/>
          </a:xfrm>
          <a:prstGeom prst="rect">
            <a:avLst/>
          </a:prstGeom>
          <a:noFill/>
          <a:ln/>
        </p:spPr>
        <p:txBody>
          <a:bodyPr wrap="square" lIns="0" tIns="0" rIns="0" bIns="0" rtlCol="0" anchor="t"/>
          <a:lstStyle/>
          <a:p>
            <a:pPr indent="0" marL="0">
              <a:buNone/>
            </a:pPr>
            <a:r>
              <a:rPr lang="en-US" sz="1500" dirty="0">
                <a:solidFill>
                  <a:srgbClr val="C9D3E3"/>
                </a:solidFill>
              </a:rPr>
              <a:t>Test both on a few hundred real KIO messages labeled by hand, and log every route the two models disagree 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2A78D6"/>
                </a:solidFill>
                <a:latin typeface="Courier New" pitchFamily="34" charset="0"/>
                <a:ea typeface="Courier New" pitchFamily="34" charset="-122"/>
                <a:cs typeface="Courier New" pitchFamily="34" charset="-120"/>
              </a:rPr>
              <a:t>SOURCES AND TOOLS</a:t>
            </a:r>
            <a:endParaRPr lang="en-US" sz="1200" dirty="0"/>
          </a:p>
        </p:txBody>
      </p:sp>
      <p:sp>
        <p:nvSpPr>
          <p:cNvPr id="3" name="Text 0"/>
          <p:cNvSpPr/>
          <p:nvPr>
            <p:ph idx="100" type="title" hasCustomPrompt="1"/>
          </p:nvPr>
        </p:nvSpPr>
        <p:spPr>
          <a:xfrm>
            <a:off x="548640" y="685800"/>
            <a:ext cx="11094415" cy="822960"/>
          </a:xfrm>
          <a:prstGeom prst="rect">
            <a:avLst/>
          </a:prstGeom>
          <a:noFill/>
          <a:ln/>
        </p:spPr>
        <p:txBody>
          <a:bodyPr wrap="square" lIns="0" tIns="0" rIns="0" bIns="0" rtlCol="0" anchor="t"/>
          <a:lstStyle/>
          <a:p>
            <a:pPr algn="l" indent="0" marL="0">
              <a:buNone/>
            </a:pPr>
            <a:r>
              <a:rPr lang="en-US" sz="3400" b="1" dirty="0">
                <a:solidFill>
                  <a:srgbClr val="14213D"/>
                </a:solidFill>
              </a:rPr>
              <a:t>What we used</a:t>
            </a:r>
            <a:endParaRPr lang="en-US" sz="3400" dirty="0"/>
          </a:p>
        </p:txBody>
      </p:sp>
      <p:sp>
        <p:nvSpPr>
          <p:cNvPr id="4" name="Text 2"/>
          <p:cNvSpPr txBox="1"/>
          <p:nvPr/>
        </p:nvSpPr>
        <p:spPr>
          <a:xfrm>
            <a:off x="548640" y="1783080"/>
            <a:ext cx="11094415" cy="40233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4A5568"/>
                </a:solidFill>
              </a:rPr>
              <a:t>CET351 Project 1 brief, “Routing for Agent KIO”, Elsewedy University of Technology, 2026</a:t>
            </a:r>
            <a:endParaRPr lang="en-US" sz="1700" dirty="0"/>
          </a:p>
          <a:p>
            <a:pPr marL="342900" indent="-342900">
              <a:spcAft>
                <a:spcPts val="1200"/>
              </a:spcAft>
              <a:buSzPct val="100000"/>
              <a:buChar char="•"/>
            </a:pPr>
            <a:r>
              <a:rPr lang="en-US" sz="1700" dirty="0">
                <a:solidFill>
                  <a:srgbClr val="4A5568"/>
                </a:solidFill>
              </a:rPr>
              <a:t>scikit-learn 1.9 (BSD-3-Clause): StandardScaler, PolynomialFeatures, LogisticRegression</a:t>
            </a:r>
            <a:endParaRPr lang="en-US" sz="1700" dirty="0"/>
          </a:p>
          <a:p>
            <a:pPr marL="342900" indent="-342900">
              <a:spcAft>
                <a:spcPts val="1200"/>
              </a:spcAft>
              <a:buSzPct val="100000"/>
              <a:buChar char="•"/>
            </a:pPr>
            <a:r>
              <a:rPr lang="en-US" sz="1700" dirty="0">
                <a:solidFill>
                  <a:srgbClr val="4A5568"/>
                </a:solidFill>
              </a:rPr>
              <a:t>Claude, claude-opus-5-5 (Anthropic, proprietary): decision model, and drafting help for the synthetic messages</a:t>
            </a:r>
            <a:endParaRPr lang="en-US" sz="1700" dirty="0"/>
          </a:p>
          <a:p>
            <a:pPr marL="342900" indent="-342900">
              <a:spcAft>
                <a:spcPts val="1200"/>
              </a:spcAft>
              <a:buSzPct val="100000"/>
              <a:buChar char="•"/>
            </a:pPr>
            <a:r>
              <a:rPr lang="en-US" sz="1700" u="sng" dirty="0">
                <a:solidFill>
                  <a:srgbClr val="4A5568"/>
                </a:solidFill>
                <a:hlinkClick r:id="rId1" invalidUrl="" action="" tgtFrame="" tooltip="" history="1" highlightClick="0" endSnd="0">
                  <a:extLst>
                    <a:ext uri="{A12FA001-AC4F-418D-AE19-62706E023703}">
                      <ahyp:hlinkClr xmlns:ahyp="http://schemas.microsoft.com/office/drawing/2018/hyperlinkcolor" val="tx"/>
                    </a:ext>
                  </a:extLst>
                </a:hlinkClick>
              </a:rPr>
              <a:t>TypeSafe AI Jev overview: nexos.ai/blog/what-is-jev</a:t>
            </a:r>
            <a:endParaRPr lang="en-US" sz="1700" dirty="0"/>
          </a:p>
          <a:p>
            <a:pPr marL="342900" indent="-342900">
              <a:spcAft>
                <a:spcPts val="1200"/>
              </a:spcAft>
              <a:buSzPct val="100000"/>
              <a:buChar char="•"/>
            </a:pPr>
            <a:r>
              <a:rPr lang="en-US" sz="1700" u="sng" dirty="0">
                <a:solidFill>
                  <a:srgbClr val="4A5568"/>
                </a:solidFill>
                <a:hlinkClick r:id="rId2" invalidUrl="" action="" tgtFrame="" tooltip="" history="1" highlightClick="0" endSnd="0">
                  <a:extLst>
                    <a:ext uri="{A12FA001-AC4F-418D-AE19-62706E023703}">
                      <ahyp:hlinkClr xmlns:ahyp="http://schemas.microsoft.com/office/drawing/2018/hyperlinkcolor" val="tx"/>
                    </a:ext>
                  </a:extLst>
                </a:hlinkClick>
              </a:rPr>
              <a:t>TypeSafe Jev guide: composio.dev</a:t>
            </a:r>
            <a:endParaRPr lang="en-US" sz="1700" dirty="0"/>
          </a:p>
          <a:p>
            <a:pPr marL="342900" indent="-342900">
              <a:spcAft>
                <a:spcPts val="1200"/>
              </a:spcAft>
              <a:buSzPct val="100000"/>
              <a:buChar char="•"/>
            </a:pPr>
            <a:r>
              <a:rPr lang="en-US" sz="1700" dirty="0">
                <a:solidFill>
                  <a:srgbClr val="4A5568"/>
                </a:solidFill>
              </a:rPr>
              <a:t>Our files: kio_routing_dataset.csv, stress_test.csv, features.py, ml_router.py, decision_router.py, evaluate.py, kio_demo.py</a:t>
            </a:r>
            <a:endParaRPr lang="en-US" sz="17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1100" dirty="0">
                <a:solidFill>
                  <a:srgbClr val="6B7689"/>
                </a:solidFill>
              </a:rPr>
              <a:t>Sources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689"/>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IO Routing">
  <a:themeElements>
    <a:clrScheme name="KIO Routing">
      <a:dk1>
        <a:srgbClr val="14213D"/>
      </a:dk1>
      <a:lt1>
        <a:srgbClr val="FFFFFF"/>
      </a:lt1>
      <a:dk2>
        <a:srgbClr val="4A5568"/>
      </a:dk2>
      <a:lt2>
        <a:srgbClr val="F4F5F7"/>
      </a:lt2>
      <a:accent1>
        <a:srgbClr val="2A78D6"/>
      </a:accent1>
      <a:accent2>
        <a:srgbClr val="EB6834"/>
      </a:accent2>
      <a:accent3>
        <a:srgbClr val="8FB8EE"/>
      </a:accent3>
      <a:accent4>
        <a:srgbClr val="F5A27F"/>
      </a:accent4>
      <a:accent5>
        <a:srgbClr val="8A97AD"/>
      </a:accent5>
      <a:accent6>
        <a:srgbClr val="1BAF7A"/>
      </a:accent6>
      <a:hlink>
        <a:srgbClr val="2A78D6"/>
      </a:hlink>
      <a:folHlink>
        <a:srgbClr val="6250D6"/>
      </a:folHlink>
    </a:clrScheme>
    <a:fontScheme name="KIO Rout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Routing for Agent KIO</dc:title>
  <dc:subject>PptxGenJS Presentation</dc:subject>
  <dc:creator>Ahmed Mohamed Aldamardash, Moaaz Abd Aljawwad, Omar Ahmed Ramadan</dc:creator>
  <cp:lastModifiedBy>Ahmed Mohamed Aldamardash, Moaaz Abd Aljawwad, Omar Ahmed Ramadan</cp:lastModifiedBy>
  <cp:revision>1</cp:revision>
  <dcterms:created xsi:type="dcterms:W3CDTF">2026-10-19T21:17:13Z</dcterms:created>
  <dcterms:modified xsi:type="dcterms:W3CDTF">2026-10-19T21:17:13Z</dcterms:modified>
</cp:coreProperties>
</file>